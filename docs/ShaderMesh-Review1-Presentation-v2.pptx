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73152" cy="5029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1051560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45309"/>
                </a:solidFill>
                <a:latin typeface="Arial"/>
              </a:rPr>
              <a:t>PROJECT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55448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8181B"/>
                </a:solidFill>
                <a:latin typeface="Arial"/>
              </a:rPr>
              <a:t>SHADERMESH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42316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0">
                <a:solidFill>
                  <a:srgbClr val="52525B"/>
                </a:solidFill>
                <a:latin typeface="Arial"/>
              </a:rPr>
              <a:t>A decentralized marketplace for renting 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25196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2525B"/>
                </a:solidFill>
                <a:latin typeface="Arial"/>
              </a:rPr>
              <a:t>[STUDENT NAME(S) AND ROLL NUMBER(S)]</a:t>
            </a:r>
            <a:br/>
            <a:r>
              <a:rPr sz="1700" b="0">
                <a:solidFill>
                  <a:srgbClr val="52525B"/>
                </a:solidFill>
                <a:latin typeface="Arial"/>
              </a:rPr>
              <a:t>[INSTITUTION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5806440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Arial"/>
              </a:rPr>
              <a:t>Proposal and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Idle hardware and compute demand lack a neutral agreement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2525B"/>
                </a:solidFill>
                <a:latin typeface="Arial"/>
              </a:rPr>
              <a:t>UNDERUSED 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8181B"/>
                </a:solidFill>
                <a:latin typeface="Arial"/>
              </a:rPr>
              <a:t>Gaming PCs</a:t>
            </a:r>
            <a:br/>
            <a:r>
              <a:rPr sz="2200" b="1">
                <a:solidFill>
                  <a:srgbClr val="18181B"/>
                </a:solidFill>
                <a:latin typeface="Arial"/>
              </a:rPr>
              <a:t>Laboratory workstations</a:t>
            </a:r>
            <a:br/>
            <a:r>
              <a:rPr sz="2200" b="1">
                <a:solidFill>
                  <a:srgbClr val="18181B"/>
                </a:solidFill>
                <a:latin typeface="Arial"/>
              </a:rPr>
              <a:t>Small GPU 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508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2525B"/>
                </a:solidFill>
                <a:latin typeface="Arial"/>
              </a:rPr>
              <a:t>COMPUTE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9659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8181B"/>
                </a:solidFill>
                <a:latin typeface="Arial"/>
              </a:rPr>
              <a:t>LLM inference</a:t>
            </a:r>
            <a:br/>
            <a:r>
              <a:rPr sz="2200" b="1">
                <a:solidFill>
                  <a:srgbClr val="18181B"/>
                </a:solidFill>
                <a:latin typeface="Arial"/>
              </a:rPr>
              <a:t>Rendering</a:t>
            </a:r>
            <a:br/>
            <a:r>
              <a:rPr sz="2200" b="1">
                <a:solidFill>
                  <a:srgbClr val="18181B"/>
                </a:solidFill>
                <a:latin typeface="Arial"/>
              </a:rPr>
              <a:t>Batch workloads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08760"/>
            <a:ext cx="3749039" cy="3337560"/>
          </a:xfrm>
          <a:prstGeom prst="rect">
            <a:avLst/>
          </a:prstGeom>
          <a:solidFill>
            <a:srgbClr val="FFFBEB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B45309"/>
                </a:solidFill>
                <a:latin typeface="Arial"/>
              </a:rPr>
              <a:t>THE TRUST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8181B"/>
                </a:solidFill>
                <a:latin typeface="Arial"/>
              </a:rPr>
              <a:t>Who holds payment?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175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8181B"/>
                </a:solidFill>
                <a:latin typeface="Arial"/>
              </a:rPr>
              <a:t>Was service available?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520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8181B"/>
                </a:solidFill>
                <a:latin typeface="Arial"/>
              </a:rPr>
              <a:t>Is the hardware genuine?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0233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8181B"/>
                </a:solidFill>
                <a:latin typeface="Arial"/>
              </a:rPr>
              <a:t>What happens after failure?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57800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8181B"/>
                </a:solidFill>
                <a:latin typeface="Arial"/>
              </a:rPr>
              <a:t>A public contract layer can make these rules visible and enforceable without running the workload on 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Five objectives define a testable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B45309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7" y="137160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Rental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371600"/>
            <a:ext cx="6080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2525B"/>
                </a:solidFill>
                <a:latin typeface="Arial"/>
              </a:rPr>
              <a:t>Listings, escrow, interval settlement, refund, and termination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7" y="1874519"/>
            <a:ext cx="9582912" cy="1097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B45309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7" y="228600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Provider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286000"/>
            <a:ext cx="6080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2525B"/>
                </a:solidFill>
                <a:latin typeface="Arial"/>
              </a:rPr>
              <a:t>Stake, attestation, reputation, and defined slashing paths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64207" y="2788920"/>
            <a:ext cx="9582912" cy="1097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B4530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7" y="320040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AI workloads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200400"/>
            <a:ext cx="6080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2525B"/>
                </a:solidFill>
                <a:latin typeface="Arial"/>
              </a:rPr>
              <a:t>OpenAI-compatible inference and accepted container execution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64207" y="3703320"/>
            <a:ext cx="9582912" cy="1097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B45309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7" y="411480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Verifiable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4114800"/>
            <a:ext cx="6080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2525B"/>
                </a:solidFill>
                <a:latin typeface="Arial"/>
              </a:rPr>
              <a:t>Commitments and disputes, then randomized verification hardening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64207" y="4617720"/>
            <a:ext cx="9582912" cy="1097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B45309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7" y="502920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5029200"/>
            <a:ext cx="6080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2525B"/>
                </a:solidFill>
                <a:latin typeface="Arial"/>
              </a:rPr>
              <a:t>Tests, multi-laptop operation, gas, security, and economics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64207" y="5532120"/>
            <a:ext cx="9582912" cy="1097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Prior systems solve different parts of the trust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2525B"/>
                </a:solidFill>
                <a:latin typeface="Arial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533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2525B"/>
                </a:solidFill>
                <a:latin typeface="Arial"/>
              </a:rPr>
              <a:t>REPRESENTATIVE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53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2525B"/>
                </a:solidFill>
                <a:latin typeface="Arial"/>
              </a:rPr>
              <a:t>LESSON FOR SHADERMESH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331720"/>
            <a:ext cx="1065276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Settlement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8105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B45309"/>
                </a:solidFill>
                <a:latin typeface="Arial"/>
              </a:rPr>
              <a:t>Ethereum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105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Keep consensus focused on value and state transitions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026664"/>
            <a:ext cx="1065276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0545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Compute 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50545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Golem, Akash, Vast.ai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0545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Resource matching does not settle every trust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721608"/>
            <a:ext cx="1065276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B45309"/>
                </a:solidFill>
                <a:latin typeface="Arial"/>
              </a:rPr>
              <a:t>Truebit, Livepeer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200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Re-execution applies only to reproducible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4416552"/>
            <a:ext cx="1065276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9534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Attestation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89534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iExec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89534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Hardware evidence introduces its own trust assumptions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5111496"/>
            <a:ext cx="1065276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902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GPU workloads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5902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Render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59028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Domain-specific clients trade generality for 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806440"/>
            <a:ext cx="1065276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85231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285231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vLLM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285231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Efficient serving still needs market and settlement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aderMesh-Review1-System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93" y="137160"/>
            <a:ext cx="10066564" cy="6263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ShaderMesh uses two workload-specific trust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B45309"/>
                </a:solidFill>
                <a:latin typeface="Arial"/>
              </a:rPr>
              <a:t>TIME-BASED RENTAL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CORE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Was service available?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498348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5643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Timely availability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498348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ECONOMIC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079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Escrow, refund, SLA slashing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83480"/>
            <a:ext cx="498348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41732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B45309"/>
                </a:solidFill>
                <a:latin typeface="Arial"/>
              </a:rPr>
              <a:t>DETERMINISTIC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057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CORE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0487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Does execution match?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880360"/>
            <a:ext cx="498348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108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45643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Commitment and re-execution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931920"/>
            <a:ext cx="498348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160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ECONOMIC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5079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Challenge, dispute, slashing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983480"/>
            <a:ext cx="498348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440680"/>
            <a:ext cx="10607040" cy="566928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605272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8181B"/>
                </a:solidFill>
                <a:latin typeface="Arial"/>
              </a:rPr>
              <a:t>Shared foundation: provider stake | public reputation | contract escrow | auditable outcomes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aderMesh-Review1-Rental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93" y="137160"/>
            <a:ext cx="10066564" cy="6263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Ethereum controls value while compute remains off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417320"/>
            <a:ext cx="10241280" cy="749808"/>
          </a:xfrm>
          <a:prstGeom prst="rect">
            <a:avLst/>
          </a:prstGeom>
          <a:solidFill>
            <a:srgbClr val="F4F4F5"/>
          </a:solidFill>
          <a:ln w="15875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581912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2525B"/>
                </a:solidFill>
                <a:latin typeface="Arial"/>
              </a:rPr>
              <a:t>PUBLIC 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63624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Ethereum proof of stake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514600"/>
            <a:ext cx="10241280" cy="749808"/>
          </a:xfrm>
          <a:prstGeom prst="rect">
            <a:avLst/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2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45309"/>
                </a:solidFill>
                <a:latin typeface="Arial"/>
              </a:rPr>
              <a:t>APPLICATION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660904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SmeshToken | ProviderRegistry | RentalMarket | JobMarket | Verification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611880"/>
            <a:ext cx="10241280" cy="749808"/>
          </a:xfrm>
          <a:prstGeom prst="rect">
            <a:avLst/>
          </a:prstGeom>
          <a:solidFill>
            <a:srgbClr val="F4F4F5"/>
          </a:solidFill>
          <a:ln w="15875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776472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2525B"/>
                </a:solidFill>
                <a:latin typeface="Arial"/>
              </a:rPr>
              <a:t>OFF-CHAIN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758184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Dashboard | Orchestrator | Provider agent | IPFS adapter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709160"/>
            <a:ext cx="102412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873752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2525B"/>
                </a:solidFill>
                <a:latin typeface="Arial"/>
              </a:rPr>
              <a:t>COMPUTE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855464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Constrained Docker runtime | CPU / optional GPU | model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aderMesh-Review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93" y="137160"/>
            <a:ext cx="10066564" cy="6263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aderMesh-Review1-Trust-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757" y="137160"/>
            <a:ext cx="9241436" cy="6263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Implementation follows a contract-first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834640"/>
            <a:ext cx="114300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487168"/>
            <a:ext cx="658368" cy="658368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33472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37560"/>
            <a:ext cx="1234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8181B"/>
                </a:solidFill>
                <a:latin typeface="Arial"/>
              </a:rPr>
              <a:t>Trust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834640"/>
            <a:ext cx="114300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86000" y="2487168"/>
            <a:ext cx="658368" cy="658368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633472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37560"/>
            <a:ext cx="1234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8181B"/>
                </a:solidFill>
                <a:latin typeface="Arial"/>
              </a:rPr>
              <a:t>State machines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834640"/>
            <a:ext cx="114300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86200" y="2487168"/>
            <a:ext cx="658368" cy="658368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633472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337560"/>
            <a:ext cx="1234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8181B"/>
                </a:solidFill>
                <a:latin typeface="Arial"/>
              </a:rPr>
              <a:t>Contract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834640"/>
            <a:ext cx="114300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0" y="2487168"/>
            <a:ext cx="658368" cy="658368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633472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337560"/>
            <a:ext cx="1234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8181B"/>
                </a:solidFill>
                <a:latin typeface="Arial"/>
              </a:rPr>
              <a:t>Agent + runtime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834640"/>
            <a:ext cx="114300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86600" y="2487168"/>
            <a:ext cx="658368" cy="658368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2633472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337560"/>
            <a:ext cx="1234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8181B"/>
                </a:solidFill>
                <a:latin typeface="Arial"/>
              </a:rPr>
              <a:t>Indexer +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2834640"/>
            <a:ext cx="114300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0" y="2487168"/>
            <a:ext cx="658368" cy="658368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2633472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337560"/>
            <a:ext cx="1234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8181B"/>
                </a:solidFill>
                <a:latin typeface="Arial"/>
              </a:rPr>
              <a:t>Dashboard</a:t>
            </a:r>
          </a:p>
        </p:txBody>
      </p:sp>
      <p:sp>
        <p:nvSpPr>
          <p:cNvPr id="31" name="Oval 30"/>
          <p:cNvSpPr/>
          <p:nvPr/>
        </p:nvSpPr>
        <p:spPr>
          <a:xfrm>
            <a:off x="10287000" y="2487168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2633472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45309"/>
                </a:solidFill>
                <a:latin typeface="Arial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337560"/>
            <a:ext cx="1234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8181B"/>
                </a:solidFill>
                <a:latin typeface="Arial"/>
              </a:rPr>
              <a:t>Sepolia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800600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8181B"/>
                </a:solidFill>
                <a:latin typeface="Arial"/>
              </a:rPr>
              <a:t>Each off-chain component was added only after its contract boundary and failure path were defined.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The stack separates settlement, coordination, and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53312"/>
            <a:ext cx="2057400" cy="658368"/>
          </a:xfrm>
          <a:prstGeom prst="rect">
            <a:avLst/>
          </a:prstGeom>
          <a:solidFill>
            <a:srgbClr val="F4F4F5"/>
          </a:solidFill>
          <a:ln w="1270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361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2525B"/>
                </a:solidFill>
                <a:latin typeface="Arial"/>
              </a:rPr>
              <a:t>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99616"/>
            <a:ext cx="7635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8181B"/>
                </a:solidFill>
                <a:latin typeface="Arial"/>
              </a:rPr>
              <a:t>Next.js | React | Tailwind | viem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975104"/>
            <a:ext cx="763524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267712"/>
            <a:ext cx="2057400" cy="658368"/>
          </a:xfrm>
          <a:prstGeom prst="rect">
            <a:avLst/>
          </a:prstGeom>
          <a:solidFill>
            <a:srgbClr val="F4F4F5"/>
          </a:solidFill>
          <a:ln w="1270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505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2525B"/>
                </a:solidFill>
                <a:latin typeface="Arial"/>
              </a:rPr>
              <a:t>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14016"/>
            <a:ext cx="7635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8181B"/>
                </a:solidFill>
                <a:latin typeface="Arial"/>
              </a:rPr>
              <a:t>Node.js 20 | TypeScript | ethers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889504"/>
            <a:ext cx="763524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182112"/>
            <a:ext cx="2057400" cy="658368"/>
          </a:xfrm>
          <a:prstGeom prst="rect">
            <a:avLst/>
          </a:prstGeom>
          <a:solidFill>
            <a:srgbClr val="F4F4F5"/>
          </a:solidFill>
          <a:ln w="1270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649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2525B"/>
                </a:solidFill>
                <a:latin typeface="Arial"/>
              </a:rPr>
              <a:t>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28416"/>
            <a:ext cx="7635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8181B"/>
                </a:solidFill>
                <a:latin typeface="Arial"/>
              </a:rPr>
              <a:t>Python 3.11 | web3.py | Docker SDK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3803904"/>
            <a:ext cx="763524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096512"/>
            <a:ext cx="205740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793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45309"/>
                </a:solidFill>
                <a:latin typeface="Arial"/>
              </a:rPr>
              <a:t>SETTLEMENT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242816"/>
            <a:ext cx="7635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8181B"/>
                </a:solidFill>
                <a:latin typeface="Arial"/>
              </a:rPr>
              <a:t>Solidity 0.8.24 | Hardhat | OpenZeppelin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4718304"/>
            <a:ext cx="763524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010912"/>
            <a:ext cx="2057400" cy="658368"/>
          </a:xfrm>
          <a:prstGeom prst="rect">
            <a:avLst/>
          </a:prstGeom>
          <a:solidFill>
            <a:srgbClr val="F4F4F5"/>
          </a:solidFill>
          <a:ln w="1270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9379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2525B"/>
                </a:solidFill>
                <a:latin typeface="Arial"/>
              </a:rPr>
              <a:t>DATA + INFRA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157216"/>
            <a:ext cx="7635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8181B"/>
                </a:solidFill>
                <a:latin typeface="Arial"/>
              </a:rPr>
              <a:t>IPFS | Kubo | PostgreSQL | Docker Compose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5632704"/>
            <a:ext cx="7635240" cy="9144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Operational inputs replace a training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Arial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Arial"/>
              </a:rPr>
              <a:t>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01   Lease duration and listing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02   Resource specification and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03   Model ID, prompt, and sampling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04   Task CID and output commitment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05   Simulator reward, bond, and spot-check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659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01   Escrow conservation and refunds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02   Heartbeat and outage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375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03   Gas use by state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04   Sandbox and GPU-access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7091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05   Route correctness, latency, and verification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623560"/>
            <a:ext cx="10561320" cy="5029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60720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8181B"/>
                </a:solidFill>
                <a:latin typeface="Arial"/>
              </a:rPr>
              <a:t>Dataset applicability: not applicable. ShaderMesh is a marketplace protocol, not a trained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The local prototype completes the main transaction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69164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45309"/>
                </a:solidFill>
                <a:latin typeface="Arial"/>
              </a:rP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2525B"/>
                </a:solidFill>
                <a:latin typeface="Arial"/>
              </a:rPr>
              <a:t>contracts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304288"/>
            <a:ext cx="54864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828800"/>
            <a:ext cx="1691640" cy="960120"/>
          </a:xfrm>
          <a:prstGeom prst="rect">
            <a:avLst/>
          </a:prstGeom>
          <a:solidFill>
            <a:srgbClr val="F4F4F5"/>
          </a:solidFill>
          <a:ln w="1270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011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8181B"/>
                </a:solidFill>
                <a:latin typeface="Arial"/>
              </a:rPr>
              <a:t>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5915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2525B"/>
                </a:solidFill>
                <a:latin typeface="Arial"/>
              </a:rPr>
              <a:t>providers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304288"/>
            <a:ext cx="54864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57800" y="1828800"/>
            <a:ext cx="169164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011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45309"/>
                </a:solidFill>
                <a:latin typeface="Arial"/>
              </a:rPr>
              <a:t>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35915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2525B"/>
                </a:solidFill>
                <a:latin typeface="Arial"/>
              </a:rPr>
              <a:t>escrow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304288"/>
            <a:ext cx="54864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0" y="1828800"/>
            <a:ext cx="1691640" cy="960120"/>
          </a:xfrm>
          <a:prstGeom prst="rect">
            <a:avLst/>
          </a:prstGeom>
          <a:solidFill>
            <a:srgbClr val="F4F4F5"/>
          </a:solidFill>
          <a:ln w="1270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011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8181B"/>
                </a:solidFill>
                <a:latin typeface="Arial"/>
              </a:rPr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35915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2525B"/>
                </a:solidFill>
                <a:latin typeface="Arial"/>
              </a:rPr>
              <a:t>container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2304288"/>
            <a:ext cx="54864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38360" y="1828800"/>
            <a:ext cx="1691640" cy="960120"/>
          </a:xfrm>
          <a:prstGeom prst="rect">
            <a:avLst/>
          </a:prstGeom>
          <a:solidFill>
            <a:srgbClr val="F4F4F5"/>
          </a:solidFill>
          <a:ln w="12700"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011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8181B"/>
                </a:solidFill>
                <a:latin typeface="Arial"/>
              </a:rPr>
              <a:t>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35915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2525B"/>
                </a:solidFill>
                <a:latin typeface="Arial"/>
              </a:rPr>
              <a:t>inference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0749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B45309"/>
                </a:solidFill>
                <a:latin typeface="Arial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623560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2525B"/>
                </a:solidFill>
                <a:latin typeface="Arial"/>
              </a:rPr>
              <a:t>contract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50749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B45309"/>
                </a:solidFill>
                <a:latin typeface="Arial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623560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2525B"/>
                </a:solidFill>
                <a:latin typeface="Arial"/>
              </a:rPr>
              <a:t>agent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0749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B45309"/>
                </a:solidFill>
                <a:latin typeface="Arial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623560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2525B"/>
                </a:solidFill>
                <a:latin typeface="Arial"/>
              </a:rPr>
              <a:t>orchestrator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50749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B45309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5623560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2525B"/>
                </a:solidFill>
                <a:latin typeface="Arial"/>
              </a:rPr>
              <a:t>seeded listings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50749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B45309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5623560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2525B"/>
                </a:solidFill>
                <a:latin typeface="Arial"/>
              </a:rPr>
              <a:t>Compose command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Current evidence proves integration, not production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2971800" cy="2286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contract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07791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escrow and settlement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21024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wallet calls and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34256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container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417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2525B"/>
                </a:solidFill>
                <a:latin typeface="Arial"/>
              </a:rPr>
              <a:t>SEEDED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847088"/>
            <a:ext cx="2971800" cy="22860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1945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provider identities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907791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GPU declarations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621024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operator attestation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334256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echo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417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45309"/>
                </a:solidFill>
                <a:latin typeface="Arial"/>
              </a:rPr>
              <a:t>MUST BE HARDENED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847088"/>
            <a:ext cx="2971800" cy="228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1945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81B"/>
                </a:solidFill>
                <a:latin typeface="Arial"/>
              </a:rPr>
              <a:t>timely heartbeat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907791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random challenger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621024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commit-reveal and quorum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334256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8181B"/>
                </a:solidFill>
                <a:latin typeface="Arial"/>
              </a:rPr>
              <a:t>real GPU benchmarks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321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8181B"/>
                </a:solidFill>
                <a:latin typeface="Arial"/>
              </a:rPr>
              <a:t>The documented limitations are part of the engineering result, not hidden assumptions.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The next milestone is a reproducible multi-laptop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1828800" cy="2286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317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Sepolia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8036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public contract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16002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4368" y="2011680"/>
            <a:ext cx="1828800" cy="2286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23317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NVIDIA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88036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real hardware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6002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Arial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2011680"/>
            <a:ext cx="1828800" cy="2286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3317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Accepted workload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88036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lease-bound container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16002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Arial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2011680"/>
            <a:ext cx="1828800" cy="2286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23317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Real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288036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Ollama or vLLM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16002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Arial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02368" y="2011680"/>
            <a:ext cx="1828800" cy="2286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8" y="23317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8181B"/>
                </a:solidFill>
                <a:latin typeface="Arial"/>
              </a:rPr>
              <a:t>Failure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88036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25B"/>
                </a:solidFill>
                <a:latin typeface="Arial"/>
              </a:rPr>
              <a:t>refund and slashing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74920"/>
            <a:ext cx="10149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8181B"/>
                </a:solidFill>
                <a:latin typeface="Arial"/>
              </a:rPr>
              <a:t>Success means the full flow works across physical machines with explicit evidence and repeatable setup.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The remaining work fits a four-week integration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2816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1184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59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8128" y="1325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2525B"/>
                </a:solidFill>
                <a:latin typeface="Arial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783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Requirements +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10512"/>
            <a:ext cx="7744968" cy="256032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1810512"/>
            <a:ext cx="1271016" cy="25603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31343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Core contracts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340863"/>
            <a:ext cx="7744968" cy="256032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2816" y="2340863"/>
            <a:ext cx="1271016" cy="25603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43784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Agent + inference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2871215"/>
            <a:ext cx="7744968" cy="256032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59552" y="2871215"/>
            <a:ext cx="1271016" cy="25603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374135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Orchestrator +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3401567"/>
            <a:ext cx="7744968" cy="256032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76288" y="3401567"/>
            <a:ext cx="1271016" cy="25603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04487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2525B"/>
                </a:solidFill>
                <a:latin typeface="Arial"/>
              </a:rPr>
              <a:t>Sepolia + multi-laptop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931920"/>
            <a:ext cx="7744968" cy="256032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93024" y="3931920"/>
            <a:ext cx="612647" cy="25603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4348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2525B"/>
                </a:solidFill>
                <a:latin typeface="Arial"/>
              </a:rPr>
              <a:t>GPU + model integration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4462272"/>
            <a:ext cx="7744968" cy="256032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51392" y="4462272"/>
            <a:ext cx="612647" cy="2560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6519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2525B"/>
                </a:solidFill>
                <a:latin typeface="Arial"/>
              </a:rPr>
              <a:t>Adversarial testing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992624"/>
            <a:ext cx="7744968" cy="256032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09759" y="4992624"/>
            <a:ext cx="612647" cy="2560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95544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2525B"/>
                </a:solidFill>
                <a:latin typeface="Arial"/>
              </a:rPr>
              <a:t>Evaluation + delivery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5522976"/>
            <a:ext cx="7744968" cy="256032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8128" y="5522976"/>
            <a:ext cx="612647" cy="2560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0" y="608076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2525B"/>
                </a:solidFill>
                <a:latin typeface="Arial"/>
              </a:rPr>
              <a:t>Completed        Next milestone        Planned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64008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657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Arial"/>
              </a:rPr>
              <a:t>Selected sources establish the design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33271"/>
            <a:ext cx="11018520" cy="1371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83096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2525B"/>
                </a:solidFill>
                <a:latin typeface="Arial"/>
              </a:rPr>
              <a:t>SHADERMESH  |  PROJECT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830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2525B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[1] Buterin, Ethereum Whitepaper, 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[2] Golem official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16936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[3] Teutsch and Reitwiessner, Truebit,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66744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[4] Petkanics and Tang, Livepeer Whitepaper,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16552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[5] iExec Proof-of-Contribution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59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[6] Akash Network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[7] Render Network Whitepaper,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67128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[8] Protocol Labs, Filecoin, 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16936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[9] Kwon et al., vLLM, SOSP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66744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[10] Vast.ai official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416552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81B"/>
                </a:solidFill>
                <a:latin typeface="Arial"/>
              </a:rPr>
              <a:t>[11] OpenZeppelin Contracts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2525B"/>
                </a:solidFill>
                <a:latin typeface="Arial"/>
              </a:rPr>
              <a:t>Full citations and access dates are included in the report.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914400"/>
            <a:ext cx="73152" cy="5029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1430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Compute stays off chain.</a:t>
            </a:r>
            <a:br/>
            <a:r>
              <a:rPr sz="3400" b="1">
                <a:solidFill>
                  <a:srgbClr val="FFFFFF"/>
                </a:solidFill>
                <a:latin typeface="Arial"/>
              </a:rPr>
              <a:t>Trust and settlement stay auditable.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71800"/>
            <a:ext cx="95097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E4E4E7"/>
                </a:solidFill>
                <a:latin typeface="Arial"/>
              </a:rPr>
              <a:t>Rental mode: availability evidence + escrow</a:t>
            </a:r>
            <a:br/>
            <a:r>
              <a:rPr sz="2200" b="0">
                <a:solidFill>
                  <a:srgbClr val="E4E4E7"/>
                </a:solidFill>
                <a:latin typeface="Arial"/>
              </a:rPr>
              <a:t>Task mode: reproducible output + dispute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16636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Arial"/>
              </a:rPr>
              <a:t>Next: Sepolia + separate NVIDIA provider laptops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8309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1A1A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ShaderMesh Project Review 1</dc:title>
  <dc:subject/>
  <dc:creator>[STUDENT NAME(S)]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