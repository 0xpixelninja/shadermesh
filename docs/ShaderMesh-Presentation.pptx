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6.png"/><Relationship Id="rId6" Type="http://schemas.openxmlformats.org/officeDocument/2006/relationships/image" Target="../media/image8.png"/><Relationship Id="rId7" Type="http://schemas.openxmlformats.org/officeDocument/2006/relationships/image" Target="../media/image13.png"/><Relationship Id="rId8" Type="http://schemas.openxmlformats.org/officeDocument/2006/relationships/image" Target="../media/image14.png"/><Relationship Id="rId9" Type="http://schemas.openxmlformats.org/officeDocument/2006/relationships/image" Target="../media/image9.png"/><Relationship Id="rId10" Type="http://schemas.openxmlformats.org/officeDocument/2006/relationships/image" Target="../media/image15.png"/><Relationship Id="rId11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777240"/>
            <a:ext cx="109728" cy="109728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13232" y="777240"/>
            <a:ext cx="109728" cy="109728"/>
          </a:xfrm>
          <a:prstGeom prst="rect">
            <a:avLst/>
          </a:prstGeom>
          <a:solidFill>
            <a:srgbClr val="D4D4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59536" y="777240"/>
            <a:ext cx="109728" cy="109728"/>
          </a:xfrm>
          <a:prstGeom prst="rect">
            <a:avLst/>
          </a:prstGeom>
          <a:solidFill>
            <a:srgbClr val="D4D4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923544"/>
            <a:ext cx="109728" cy="109728"/>
          </a:xfrm>
          <a:prstGeom prst="rect">
            <a:avLst/>
          </a:prstGeom>
          <a:solidFill>
            <a:srgbClr val="D4D4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13232" y="923544"/>
            <a:ext cx="109728" cy="109728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59536" y="923544"/>
            <a:ext cx="109728" cy="109728"/>
          </a:xfrm>
          <a:prstGeom prst="rect">
            <a:avLst/>
          </a:prstGeom>
          <a:solidFill>
            <a:srgbClr val="D4D4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1069848"/>
            <a:ext cx="109728" cy="109728"/>
          </a:xfrm>
          <a:prstGeom prst="rect">
            <a:avLst/>
          </a:prstGeom>
          <a:solidFill>
            <a:srgbClr val="D4D4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069848"/>
            <a:ext cx="109728" cy="109728"/>
          </a:xfrm>
          <a:prstGeom prst="rect">
            <a:avLst/>
          </a:prstGeom>
          <a:solidFill>
            <a:srgbClr val="D4D4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59536" y="1069848"/>
            <a:ext cx="109728" cy="109728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1572768"/>
            <a:ext cx="77724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5800" b="1">
                <a:solidFill>
                  <a:srgbClr val="18181B"/>
                </a:solidFill>
                <a:latin typeface="Segoe UI"/>
              </a:rPr>
              <a:t>ShaderMesh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2505456"/>
            <a:ext cx="7772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900" b="0">
                <a:solidFill>
                  <a:srgbClr val="52525B"/>
                </a:solidFill>
                <a:latin typeface="Segoe UI"/>
              </a:rPr>
              <a:t>A decentralised marketplace for renting GPU compute on Ethereum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3127248"/>
            <a:ext cx="1463040" cy="3175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3401568"/>
            <a:ext cx="77724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450" b="0">
                <a:solidFill>
                  <a:srgbClr val="3F3F46"/>
                </a:solidFill>
                <a:latin typeface="Segoe UI"/>
              </a:rPr>
              <a:t>Providers stake collateral, prove uptime each interval, and are slashed for downtime.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50" b="0">
                <a:solidFill>
                  <a:srgbClr val="3F3F46"/>
                </a:solidFill>
                <a:latin typeface="Segoe UI"/>
              </a:rPr>
              <a:t>Interactive GPU leases and provider-served model inference, settled on chain.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4407408"/>
            <a:ext cx="23774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500" b="1">
                <a:solidFill>
                  <a:srgbClr val="D97706"/>
                </a:solidFill>
                <a:latin typeface="Segoe UI"/>
              </a:rPr>
              <a:t>GPU rental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71717A"/>
                </a:solidFill>
                <a:latin typeface="Segoe UI"/>
              </a:rPr>
              <a:t>interactive leases with shell access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08960" y="4407408"/>
            <a:ext cx="23774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500" b="1">
                <a:solidFill>
                  <a:srgbClr val="D97706"/>
                </a:solidFill>
                <a:latin typeface="Segoe UI"/>
              </a:rPr>
              <a:t>Model inference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71717A"/>
                </a:solidFill>
                <a:latin typeface="Segoe UI"/>
              </a:rPr>
              <a:t>metered per token and settled on chain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50992" y="4407408"/>
            <a:ext cx="23774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500" b="1">
                <a:solidFill>
                  <a:srgbClr val="D97706"/>
                </a:solidFill>
                <a:latin typeface="Segoe UI"/>
              </a:rPr>
              <a:t>Ethereum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71717A"/>
                </a:solidFill>
                <a:latin typeface="Segoe UI"/>
              </a:rPr>
              <a:t>escrow, staking and slashing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613648" y="1572768"/>
            <a:ext cx="2999232" cy="4005072"/>
          </a:xfrm>
          <a:prstGeom prst="roundRect">
            <a:avLst>
              <a:gd name="adj" fmla="val 3500"/>
            </a:avLst>
          </a:prstGeom>
          <a:solidFill>
            <a:srgbClr val="FAFAFA"/>
          </a:solidFill>
          <a:ln w="12700">
            <a:solidFill>
              <a:srgbClr val="E4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8887968" y="1810512"/>
            <a:ext cx="24505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>
                <a:solidFill>
                  <a:srgbClr val="D97706"/>
                </a:solidFill>
                <a:latin typeface="Segoe UI"/>
              </a:rPr>
              <a:t>TEAM &lt;number&gt;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87968" y="2103120"/>
            <a:ext cx="245059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1">
                <a:solidFill>
                  <a:srgbClr val="18181B"/>
                </a:solidFill>
                <a:latin typeface="Segoe UI"/>
              </a:rPr>
              <a:t>&lt;Team name&gt;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87968" y="2798064"/>
            <a:ext cx="245059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100"/>
              </a:spcAft>
            </a:pPr>
            <a:r>
              <a:rPr sz="1250" b="0">
                <a:solidFill>
                  <a:srgbClr val="3F3F46"/>
                </a:solidFill>
                <a:latin typeface="Segoe UI"/>
              </a:rPr>
              <a:t>&lt;Member 1 name&gt;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71717A"/>
                </a:solidFill>
                <a:latin typeface="Consolas"/>
              </a:rPr>
              <a:t>&lt;Roll number&gt;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87968" y="3346704"/>
            <a:ext cx="245059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100"/>
              </a:spcAft>
            </a:pPr>
            <a:r>
              <a:rPr sz="1250" b="0">
                <a:solidFill>
                  <a:srgbClr val="3F3F46"/>
                </a:solidFill>
                <a:latin typeface="Segoe UI"/>
              </a:rPr>
              <a:t>&lt;Member 2 name&gt;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71717A"/>
                </a:solidFill>
                <a:latin typeface="Consolas"/>
              </a:rPr>
              <a:t>&lt;Roll number&gt;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887968" y="3895344"/>
            <a:ext cx="245059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100"/>
              </a:spcAft>
            </a:pPr>
            <a:r>
              <a:rPr sz="1250" b="0">
                <a:solidFill>
                  <a:srgbClr val="3F3F46"/>
                </a:solidFill>
                <a:latin typeface="Segoe UI"/>
              </a:rPr>
              <a:t>&lt;Member 3 name&gt;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71717A"/>
                </a:solidFill>
                <a:latin typeface="Consolas"/>
              </a:rPr>
              <a:t>&lt;Roll number&gt;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87968" y="4443984"/>
            <a:ext cx="245059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100"/>
              </a:spcAft>
            </a:pPr>
            <a:r>
              <a:rPr sz="1250" b="0">
                <a:solidFill>
                  <a:srgbClr val="3F3F46"/>
                </a:solidFill>
                <a:latin typeface="Segoe UI"/>
              </a:rPr>
              <a:t>&lt;Member 4 name&gt;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71717A"/>
                </a:solidFill>
                <a:latin typeface="Consolas"/>
              </a:rPr>
              <a:t>&lt;Roll number&gt;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887968" y="5065776"/>
            <a:ext cx="2450592" cy="12700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887968" y="5184648"/>
            <a:ext cx="24505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71717A"/>
                </a:solidFill>
                <a:latin typeface="Segoe UI"/>
              </a:rPr>
              <a:t>Guide: &lt;supervisor name&gt;</a:t>
            </a:r>
          </a:p>
        </p:txBody>
      </p:sp>
      <p:pic>
        <p:nvPicPr>
          <p:cNvPr id="28" name="Picture 27" descr="solid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440680"/>
            <a:ext cx="274320" cy="274320"/>
          </a:xfrm>
          <a:prstGeom prst="rect">
            <a:avLst/>
          </a:prstGeom>
        </p:spPr>
      </p:pic>
      <p:pic>
        <p:nvPicPr>
          <p:cNvPr id="29" name="Picture 28" descr="ethereu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16" y="5440680"/>
            <a:ext cx="274320" cy="274320"/>
          </a:xfrm>
          <a:prstGeom prst="rect">
            <a:avLst/>
          </a:prstGeom>
        </p:spPr>
      </p:pic>
      <p:pic>
        <p:nvPicPr>
          <p:cNvPr id="30" name="Picture 29" descr="pyth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17904" y="5440680"/>
            <a:ext cx="274320" cy="274320"/>
          </a:xfrm>
          <a:prstGeom prst="rect">
            <a:avLst/>
          </a:prstGeom>
        </p:spPr>
      </p:pic>
      <p:pic>
        <p:nvPicPr>
          <p:cNvPr id="31" name="Picture 30" descr="nodej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93392" y="5440680"/>
            <a:ext cx="274320" cy="274320"/>
          </a:xfrm>
          <a:prstGeom prst="rect">
            <a:avLst/>
          </a:prstGeom>
        </p:spPr>
      </p:pic>
      <p:pic>
        <p:nvPicPr>
          <p:cNvPr id="32" name="Picture 31" descr="typescrip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68880" y="5440680"/>
            <a:ext cx="274320" cy="274320"/>
          </a:xfrm>
          <a:prstGeom prst="rect">
            <a:avLst/>
          </a:prstGeom>
        </p:spPr>
      </p:pic>
      <p:pic>
        <p:nvPicPr>
          <p:cNvPr id="33" name="Picture 32" descr="nextj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944368" y="5440680"/>
            <a:ext cx="274320" cy="274320"/>
          </a:xfrm>
          <a:prstGeom prst="rect">
            <a:avLst/>
          </a:prstGeom>
        </p:spPr>
      </p:pic>
      <p:pic>
        <p:nvPicPr>
          <p:cNvPr id="34" name="Picture 33" descr="react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419856" y="5440680"/>
            <a:ext cx="274320" cy="274320"/>
          </a:xfrm>
          <a:prstGeom prst="rect">
            <a:avLst/>
          </a:prstGeom>
        </p:spPr>
      </p:pic>
      <p:pic>
        <p:nvPicPr>
          <p:cNvPr id="35" name="Picture 34" descr="docker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895344" y="5440680"/>
            <a:ext cx="274320" cy="274320"/>
          </a:xfrm>
          <a:prstGeom prst="rect">
            <a:avLst/>
          </a:prstGeom>
        </p:spPr>
      </p:pic>
      <p:pic>
        <p:nvPicPr>
          <p:cNvPr id="36" name="Picture 35" descr="nvidia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370832" y="5440680"/>
            <a:ext cx="274320" cy="274320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566928" y="5907024"/>
            <a:ext cx="7863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71717A"/>
                </a:solidFill>
                <a:latin typeface="Segoe UI"/>
              </a:rPr>
              <a:t>&lt;Course code and name&gt;   |   &lt;Review number&gt;   |   &lt;Date&gt;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801807" y="6382512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000" b="1">
                <a:solidFill>
                  <a:srgbClr val="71717A"/>
                </a:solidFill>
                <a:latin typeface="Segoe U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402336"/>
            <a:ext cx="822960" cy="3175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48640"/>
            <a:ext cx="11057839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000" b="1">
                <a:solidFill>
                  <a:srgbClr val="18181B"/>
                </a:solidFill>
                <a:latin typeface="Segoe UI"/>
              </a:rPr>
              <a:t>Problem and approach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50" b="0">
                <a:solidFill>
                  <a:srgbClr val="52525B"/>
                </a:solidFill>
                <a:latin typeface="Segoe UI"/>
              </a:rPr>
              <a:t>Renting compute from an unknown provider requires trusting that provider.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536192"/>
            <a:ext cx="5346039" cy="4114800"/>
          </a:xfrm>
          <a:prstGeom prst="roundRect">
            <a:avLst>
              <a:gd name="adj" fmla="val 3500"/>
            </a:avLst>
          </a:prstGeom>
          <a:solidFill>
            <a:srgbClr val="F4F4F5"/>
          </a:solidFill>
          <a:ln w="12700">
            <a:solidFill>
              <a:srgbClr val="E4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77824" y="1773936"/>
            <a:ext cx="472424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700" b="1">
                <a:solidFill>
                  <a:srgbClr val="18181B"/>
                </a:solidFill>
                <a:latin typeface="Segoe UI"/>
              </a:rPr>
              <a:t>Why this is hard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2304288"/>
            <a:ext cx="4724247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450" b="1">
                <a:solidFill>
                  <a:srgbClr val="18181B"/>
                </a:solidFill>
                <a:latin typeface="Segoe UI"/>
              </a:rPr>
              <a:t>Supply is concentrated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2525B"/>
                </a:solidFill>
                <a:latin typeface="Segoe UI"/>
              </a:rPr>
              <a:t>A small number of cloud providers set price and availability, while idle consumer GPUs remain unused.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3419856"/>
            <a:ext cx="4724247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450" b="1">
                <a:solidFill>
                  <a:srgbClr val="18181B"/>
                </a:solidFill>
                <a:latin typeface="Segoe UI"/>
              </a:rPr>
              <a:t>Rented time cannot be re-executed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2525B"/>
                </a:solidFill>
                <a:latin typeface="Segoe UI"/>
              </a:rPr>
              <a:t>A rented interval produces no output to recompute and compare, so re-execution based verification does not apply.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7824" y="4535424"/>
            <a:ext cx="4724247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450" b="1">
                <a:solidFill>
                  <a:srgbClr val="18181B"/>
                </a:solidFill>
                <a:latin typeface="Segoe UI"/>
              </a:rPr>
              <a:t>Payment is committed up front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2525B"/>
                </a:solidFill>
                <a:latin typeface="Segoe UI"/>
              </a:rPr>
              <a:t>The requester pays for a window in advance and has no automatic remedy if the machine stops serving.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78727" y="1536192"/>
            <a:ext cx="5346039" cy="4114800"/>
          </a:xfrm>
          <a:prstGeom prst="roundRect">
            <a:avLst>
              <a:gd name="adj" fmla="val 3500"/>
            </a:avLst>
          </a:prstGeom>
          <a:solidFill>
            <a:srgbClr val="FEF3C7"/>
          </a:solidFill>
          <a:ln w="1905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89623" y="1773936"/>
            <a:ext cx="472424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700" b="1">
                <a:solidFill>
                  <a:srgbClr val="D97706"/>
                </a:solidFill>
                <a:latin typeface="Segoe UI"/>
              </a:rPr>
              <a:t>What ShaderMesh does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9623" y="2304288"/>
            <a:ext cx="4724247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450" b="1">
                <a:solidFill>
                  <a:srgbClr val="18181B"/>
                </a:solidFill>
                <a:latin typeface="Segoe UI"/>
              </a:rPr>
              <a:t>Providers post collateral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2525B"/>
                </a:solidFill>
                <a:latin typeface="Segoe UI"/>
              </a:rPr>
              <a:t>A provider stakes tokens to list capacity, and a further bond is locked for the duration of each lease.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9623" y="3419856"/>
            <a:ext cx="4724247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450" b="1">
                <a:solidFill>
                  <a:srgbClr val="18181B"/>
                </a:solidFill>
                <a:latin typeface="Segoe UI"/>
              </a:rPr>
              <a:t>Uptime is proven per interval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2525B"/>
                </a:solidFill>
                <a:latin typeface="Segoe UI"/>
              </a:rPr>
              <a:t>The provider publishes a signed heartbeat for the current interval. A missed interval cannot be back-filled later.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9623" y="4535424"/>
            <a:ext cx="4724247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450" b="1">
                <a:solidFill>
                  <a:srgbClr val="18181B"/>
                </a:solidFill>
                <a:latin typeface="Segoe UI"/>
              </a:rPr>
              <a:t>Escrow settles per interval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2525B"/>
                </a:solidFill>
                <a:latin typeface="Segoe UI"/>
              </a:rPr>
              <a:t>Escrow releases only for the contiguous proven prefix. Downtime refunds the remainder and slashes the bond.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5870448"/>
            <a:ext cx="1105783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50" b="1">
                <a:solidFill>
                  <a:srgbClr val="18181B"/>
                </a:solidFill>
                <a:latin typeface="Segoe UI"/>
              </a:rPr>
              <a:t>The chain provides trust, coordination and payment. Compute is never executed on chain.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6382512"/>
            <a:ext cx="100519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71717A"/>
                </a:solidFill>
                <a:latin typeface="Segoe UI"/>
              </a:rPr>
              <a:t>ShaderMesh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01807" y="6382512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000" b="1">
                <a:solidFill>
                  <a:srgbClr val="71717A"/>
                </a:solidFill>
                <a:latin typeface="Segoe U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402336"/>
            <a:ext cx="822960" cy="3175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48640"/>
            <a:ext cx="11057839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000" b="1">
                <a:solidFill>
                  <a:srgbClr val="18181B"/>
                </a:solidFill>
                <a:latin typeface="Segoe UI"/>
              </a:rPr>
              <a:t>System architecture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50" b="0">
                <a:solidFill>
                  <a:srgbClr val="52525B"/>
                </a:solidFill>
                <a:latin typeface="Segoe UI"/>
              </a:rPr>
              <a:t>Four off-chain components, one on-chain authority.</a:t>
            </a:r>
          </a:p>
        </p:txBody>
      </p:sp>
      <p:pic>
        <p:nvPicPr>
          <p:cNvPr id="5" name="Picture 4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481328"/>
            <a:ext cx="11057839" cy="387024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5797296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2525B"/>
                </a:solidFill>
                <a:latin typeface="Segoe UI"/>
              </a:rPr>
              <a:t>The agent and orchestrator are treated as untrusted. Neither holds user funds, and neither can force a payout. Settlement occurs only against the heartbeat history recorded on chain.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82512"/>
            <a:ext cx="100519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71717A"/>
                </a:solidFill>
                <a:latin typeface="Segoe UI"/>
              </a:rPr>
              <a:t>ShaderMesh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01807" y="6382512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000" b="1">
                <a:solidFill>
                  <a:srgbClr val="71717A"/>
                </a:solidFill>
                <a:latin typeface="Segoe U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402336"/>
            <a:ext cx="822960" cy="3175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48640"/>
            <a:ext cx="11057839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000" b="1">
                <a:solidFill>
                  <a:srgbClr val="18181B"/>
                </a:solidFill>
                <a:latin typeface="Segoe UI"/>
              </a:rPr>
              <a:t>Trust model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50" b="0">
                <a:solidFill>
                  <a:srgbClr val="52525B"/>
                </a:solidFill>
                <a:latin typeface="Segoe UI"/>
              </a:rPr>
              <a:t>Availability is provable on chain. Output correctness is not.</a:t>
            </a:r>
          </a:p>
        </p:txBody>
      </p:sp>
      <p:pic>
        <p:nvPicPr>
          <p:cNvPr id="5" name="Picture 4" descr="tru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481328"/>
            <a:ext cx="11057839" cy="387024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5797296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2525B"/>
                </a:solidFill>
                <a:latin typeface="Segoe UI"/>
              </a:rPr>
              <a:t>A second market mode for verifiable tasks, using re-execution and challenge voting, is also implemented in the contracts for workloads whose output can be checked.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82512"/>
            <a:ext cx="100519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71717A"/>
                </a:solidFill>
                <a:latin typeface="Segoe UI"/>
              </a:rPr>
              <a:t>ShaderMesh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01807" y="6382512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000" b="1">
                <a:solidFill>
                  <a:srgbClr val="71717A"/>
                </a:solidFill>
                <a:latin typeface="Segoe U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402336"/>
            <a:ext cx="822960" cy="3175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48640"/>
            <a:ext cx="11057839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000" b="1">
                <a:solidFill>
                  <a:srgbClr val="18181B"/>
                </a:solidFill>
                <a:latin typeface="Segoe UI"/>
              </a:rPr>
              <a:t>Rental lifecycle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50" b="0">
                <a:solidFill>
                  <a:srgbClr val="52525B"/>
                </a:solidFill>
                <a:latin typeface="Segoe UI"/>
              </a:rPr>
              <a:t>Acceptance, settlement and termination proceed without operator intervention.</a:t>
            </a:r>
          </a:p>
        </p:txBody>
      </p:sp>
      <p:pic>
        <p:nvPicPr>
          <p:cNvPr id="5" name="Picture 4" descr="lifecy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481328"/>
            <a:ext cx="11057839" cy="368594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568756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2525B"/>
                </a:solidFill>
                <a:latin typeface="Segoe UI"/>
              </a:rPr>
              <a:t>Acceptance is automatic because a provider runs unattended. Requiring manual approval for each lease would conflict with the availability the market is selling.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82512"/>
            <a:ext cx="100519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71717A"/>
                </a:solidFill>
                <a:latin typeface="Segoe UI"/>
              </a:rPr>
              <a:t>ShaderMesh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01807" y="6382512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000" b="1">
                <a:solidFill>
                  <a:srgbClr val="71717A"/>
                </a:solidFill>
                <a:latin typeface="Segoe U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402336"/>
            <a:ext cx="822960" cy="3175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48640"/>
            <a:ext cx="11057839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000" b="1">
                <a:solidFill>
                  <a:srgbClr val="18181B"/>
                </a:solidFill>
                <a:latin typeface="Segoe UI"/>
              </a:rPr>
              <a:t>Implementation and verification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50" b="0">
                <a:solidFill>
                  <a:srgbClr val="52525B"/>
                </a:solidFill>
                <a:latin typeface="Segoe UI"/>
              </a:rPr>
              <a:t>Each component is implemented, containerised and covered by an automated test suite.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517904"/>
            <a:ext cx="2531287" cy="1965960"/>
          </a:xfrm>
          <a:prstGeom prst="roundRect">
            <a:avLst>
              <a:gd name="adj" fmla="val 3500"/>
            </a:avLst>
          </a:prstGeom>
          <a:solidFill>
            <a:srgbClr val="FAFAFA"/>
          </a:solidFill>
          <a:ln w="12700">
            <a:solidFill>
              <a:srgbClr val="E4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solid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755648"/>
            <a:ext cx="347472" cy="34747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2267712"/>
            <a:ext cx="2019223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500" b="1">
                <a:solidFill>
                  <a:srgbClr val="18181B"/>
                </a:solidFill>
                <a:latin typeface="Segoe UI"/>
              </a:rPr>
              <a:t>Smart contracts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D97706"/>
                </a:solidFill>
                <a:latin typeface="Consolas"/>
              </a:rPr>
              <a:t>Solidity 0.8.24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200" b="0">
                <a:solidFill>
                  <a:srgbClr val="3F3F46"/>
                </a:solidFill>
                <a:latin typeface="Segoe UI"/>
              </a:rPr>
              <a:t>Escrow, staking, slashing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71717A"/>
                </a:solidFill>
                <a:latin typeface="Segoe UI"/>
              </a:rPr>
              <a:t>Hardhat, OpenZeppelin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09111" y="1517904"/>
            <a:ext cx="2531287" cy="1965960"/>
          </a:xfrm>
          <a:prstGeom prst="roundRect">
            <a:avLst>
              <a:gd name="adj" fmla="val 3500"/>
            </a:avLst>
          </a:prstGeom>
          <a:solidFill>
            <a:srgbClr val="FAFAFA"/>
          </a:solidFill>
          <a:ln w="12700">
            <a:solidFill>
              <a:srgbClr val="E4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9" name="Picture 8" descr="pyth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65143" y="1755648"/>
            <a:ext cx="347472" cy="3474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665143" y="2267712"/>
            <a:ext cx="2019223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500" b="1">
                <a:solidFill>
                  <a:srgbClr val="18181B"/>
                </a:solidFill>
                <a:latin typeface="Segoe UI"/>
              </a:rPr>
              <a:t>Provider agent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D97706"/>
                </a:solidFill>
                <a:latin typeface="Consolas"/>
              </a:rPr>
              <a:t>Python 3.11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200" b="0">
                <a:solidFill>
                  <a:srgbClr val="3F3F46"/>
                </a:solidFill>
                <a:latin typeface="Segoe UI"/>
              </a:rPr>
              <a:t>Lease serving, inference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71717A"/>
                </a:solidFill>
                <a:latin typeface="Segoe UI"/>
              </a:rPr>
              <a:t>web3.py, Docker SDK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51295" y="1517904"/>
            <a:ext cx="2531287" cy="1965960"/>
          </a:xfrm>
          <a:prstGeom prst="roundRect">
            <a:avLst>
              <a:gd name="adj" fmla="val 3500"/>
            </a:avLst>
          </a:prstGeom>
          <a:solidFill>
            <a:srgbClr val="FAFAFA"/>
          </a:solidFill>
          <a:ln w="12700">
            <a:solidFill>
              <a:srgbClr val="E4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nodej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07327" y="1755648"/>
            <a:ext cx="347472" cy="34747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507327" y="2267712"/>
            <a:ext cx="2019223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500" b="1">
                <a:solidFill>
                  <a:srgbClr val="18181B"/>
                </a:solidFill>
                <a:latin typeface="Segoe UI"/>
              </a:rPr>
              <a:t>Orchestrator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D97706"/>
                </a:solidFill>
                <a:latin typeface="Consolas"/>
              </a:rPr>
              <a:t>Node 20, TypeScript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200" b="0">
                <a:solidFill>
                  <a:srgbClr val="3F3F46"/>
                </a:solidFill>
                <a:latin typeface="Segoe UI"/>
              </a:rPr>
              <a:t>Indexer, API, gateway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71717A"/>
                </a:solidFill>
                <a:latin typeface="Segoe UI"/>
              </a:rPr>
              <a:t>ethers v6, Postgres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93479" y="1517904"/>
            <a:ext cx="2531287" cy="1965960"/>
          </a:xfrm>
          <a:prstGeom prst="roundRect">
            <a:avLst>
              <a:gd name="adj" fmla="val 3500"/>
            </a:avLst>
          </a:prstGeom>
          <a:solidFill>
            <a:srgbClr val="FAFAFA"/>
          </a:solidFill>
          <a:ln w="12700">
            <a:solidFill>
              <a:srgbClr val="E4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5" name="Picture 14" descr="nextj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49511" y="1755648"/>
            <a:ext cx="347472" cy="34747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349511" y="2267712"/>
            <a:ext cx="2019223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500" b="1">
                <a:solidFill>
                  <a:srgbClr val="18181B"/>
                </a:solidFill>
                <a:latin typeface="Segoe UI"/>
              </a:rPr>
              <a:t>Dashboard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D97706"/>
                </a:solidFill>
                <a:latin typeface="Consolas"/>
              </a:rPr>
              <a:t>Next.js 16, React 19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200" b="0">
                <a:solidFill>
                  <a:srgbClr val="3F3F46"/>
                </a:solidFill>
                <a:latin typeface="Segoe UI"/>
              </a:rPr>
              <a:t>Marketplace and console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71717A"/>
                </a:solidFill>
                <a:latin typeface="Segoe UI"/>
              </a:rPr>
              <a:t>viem, Tailwind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3666744"/>
            <a:ext cx="11057839" cy="841248"/>
          </a:xfrm>
          <a:prstGeom prst="roundRect">
            <a:avLst>
              <a:gd name="adj" fmla="val 3500"/>
            </a:avLst>
          </a:prstGeom>
          <a:solidFill>
            <a:srgbClr val="F4F4F5"/>
          </a:solidFill>
          <a:ln w="12700">
            <a:solidFill>
              <a:srgbClr val="E4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22960" y="3867912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18181B"/>
                </a:solidFill>
                <a:latin typeface="Segoe UI"/>
              </a:rPr>
              <a:t>Runtime</a:t>
            </a:r>
          </a:p>
        </p:txBody>
      </p:sp>
      <p:pic>
        <p:nvPicPr>
          <p:cNvPr id="19" name="Picture 18" descr="docke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029968" y="3904487"/>
            <a:ext cx="237744" cy="23774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2322576" y="3895344"/>
            <a:ext cx="117043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>
                <a:solidFill>
                  <a:srgbClr val="3F3F46"/>
                </a:solidFill>
                <a:latin typeface="Segoe UI"/>
              </a:rPr>
              <a:t>Docker</a:t>
            </a:r>
          </a:p>
        </p:txBody>
      </p:sp>
      <p:pic>
        <p:nvPicPr>
          <p:cNvPr id="21" name="Picture 20" descr="postgresql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547872" y="3904487"/>
            <a:ext cx="237744" cy="237744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3840480" y="3895344"/>
            <a:ext cx="117043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>
                <a:solidFill>
                  <a:srgbClr val="3F3F46"/>
                </a:solidFill>
                <a:latin typeface="Segoe UI"/>
              </a:rPr>
              <a:t>Postgres</a:t>
            </a:r>
          </a:p>
        </p:txBody>
      </p:sp>
      <p:pic>
        <p:nvPicPr>
          <p:cNvPr id="23" name="Picture 22" descr="ipfs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065776" y="3904487"/>
            <a:ext cx="237744" cy="23774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5358384" y="3895344"/>
            <a:ext cx="117043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>
                <a:solidFill>
                  <a:srgbClr val="3F3F46"/>
                </a:solidFill>
                <a:latin typeface="Segoe UI"/>
              </a:rPr>
              <a:t>IPFS</a:t>
            </a:r>
          </a:p>
        </p:txBody>
      </p:sp>
      <p:pic>
        <p:nvPicPr>
          <p:cNvPr id="25" name="Picture 24" descr="nvidia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583680" y="3904487"/>
            <a:ext cx="237744" cy="237744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6876288" y="3895344"/>
            <a:ext cx="117043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>
                <a:solidFill>
                  <a:srgbClr val="3F3F46"/>
                </a:solidFill>
                <a:latin typeface="Segoe UI"/>
              </a:rPr>
              <a:t>CUDA GPU</a:t>
            </a:r>
          </a:p>
        </p:txBody>
      </p:sp>
      <p:pic>
        <p:nvPicPr>
          <p:cNvPr id="27" name="Picture 26" descr="ollama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101584" y="3904487"/>
            <a:ext cx="237744" cy="237744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8394192" y="3895344"/>
            <a:ext cx="117043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>
                <a:solidFill>
                  <a:srgbClr val="3F3F46"/>
                </a:solidFill>
                <a:latin typeface="Segoe UI"/>
              </a:rPr>
              <a:t>Ollama</a:t>
            </a:r>
          </a:p>
        </p:txBody>
      </p:sp>
      <p:pic>
        <p:nvPicPr>
          <p:cNvPr id="29" name="Picture 28" descr="ethereum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619488" y="3904487"/>
            <a:ext cx="237744" cy="237744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9912096" y="3895344"/>
            <a:ext cx="117043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>
                <a:solidFill>
                  <a:srgbClr val="3F3F46"/>
                </a:solidFill>
                <a:latin typeface="Segoe UI"/>
              </a:rPr>
              <a:t>Hardhat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66928" y="4709160"/>
            <a:ext cx="2531287" cy="1280160"/>
          </a:xfrm>
          <a:prstGeom prst="roundRect">
            <a:avLst>
              <a:gd name="adj" fmla="val 3500"/>
            </a:avLst>
          </a:prstGeom>
          <a:solidFill>
            <a:srgbClr val="ECFDF5"/>
          </a:solidFill>
          <a:ln w="12700">
            <a:solidFill>
              <a:srgbClr val="158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804672" y="4910328"/>
            <a:ext cx="2055799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250" b="1">
                <a:solidFill>
                  <a:srgbClr val="15803D"/>
                </a:solidFill>
                <a:latin typeface="Segoe UI"/>
              </a:rPr>
              <a:t>Sandboxed execution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52525B"/>
                </a:solidFill>
                <a:latin typeface="Segoe UI"/>
              </a:rPr>
              <a:t>Lease containers run with CPU, memory and process limits, and are removed when the lease ends.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409111" y="4709160"/>
            <a:ext cx="2531287" cy="1280160"/>
          </a:xfrm>
          <a:prstGeom prst="roundRect">
            <a:avLst>
              <a:gd name="adj" fmla="val 3500"/>
            </a:avLst>
          </a:prstGeom>
          <a:solidFill>
            <a:srgbClr val="ECFDF5"/>
          </a:solidFill>
          <a:ln w="12700">
            <a:solidFill>
              <a:srgbClr val="158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3646855" y="4910328"/>
            <a:ext cx="2055799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250" b="1">
                <a:solidFill>
                  <a:srgbClr val="15803D"/>
                </a:solidFill>
                <a:latin typeface="Segoe UI"/>
              </a:rPr>
              <a:t>Recoverable index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52525B"/>
                </a:solidFill>
                <a:latin typeface="Segoe UI"/>
              </a:rPr>
              <a:t>The event projection is durable and can be rebuilt from chain history after data loss.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251295" y="4709160"/>
            <a:ext cx="2531287" cy="1280160"/>
          </a:xfrm>
          <a:prstGeom prst="roundRect">
            <a:avLst>
              <a:gd name="adj" fmla="val 3500"/>
            </a:avLst>
          </a:prstGeom>
          <a:solidFill>
            <a:srgbClr val="ECFDF5"/>
          </a:solidFill>
          <a:ln w="12700">
            <a:solidFill>
              <a:srgbClr val="158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6489039" y="4910328"/>
            <a:ext cx="2055799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250" b="1">
                <a:solidFill>
                  <a:srgbClr val="15803D"/>
                </a:solidFill>
                <a:latin typeface="Segoe UI"/>
              </a:rPr>
              <a:t>Signed request routing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52525B"/>
                </a:solidFill>
                <a:latin typeface="Segoe UI"/>
              </a:rPr>
              <a:t>The gateway verifies a wallet signature and routes only to the credited provider.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093479" y="4709160"/>
            <a:ext cx="2531287" cy="1280160"/>
          </a:xfrm>
          <a:prstGeom prst="roundRect">
            <a:avLst>
              <a:gd name="adj" fmla="val 3500"/>
            </a:avLst>
          </a:prstGeom>
          <a:solidFill>
            <a:srgbClr val="ECFDF5"/>
          </a:solidFill>
          <a:ln w="12700">
            <a:solidFill>
              <a:srgbClr val="158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9331223" y="4910328"/>
            <a:ext cx="2055799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250" b="1">
                <a:solidFill>
                  <a:srgbClr val="15803D"/>
                </a:solidFill>
                <a:latin typeface="Segoe UI"/>
              </a:rPr>
              <a:t>Reproducible stack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52525B"/>
                </a:solidFill>
                <a:latin typeface="Segoe UI"/>
              </a:rPr>
              <a:t>The whole system starts from one compose file, including chain, storage and database.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66928" y="6382512"/>
            <a:ext cx="100519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71717A"/>
                </a:solidFill>
                <a:latin typeface="Segoe UI"/>
              </a:rPr>
              <a:t>ShaderMesh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801807" y="6382512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000" b="1">
                <a:solidFill>
                  <a:srgbClr val="71717A"/>
                </a:solidFill>
                <a:latin typeface="Segoe U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402336"/>
            <a:ext cx="822960" cy="3175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48640"/>
            <a:ext cx="11057839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000" b="1">
                <a:solidFill>
                  <a:srgbClr val="18181B"/>
                </a:solidFill>
                <a:latin typeface="Segoe UI"/>
              </a:rPr>
              <a:t>Demonstration and status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50" b="0">
                <a:solidFill>
                  <a:srgbClr val="52525B"/>
                </a:solidFill>
                <a:latin typeface="Segoe UI"/>
              </a:rPr>
              <a:t>The demonstration runs locally on one machine against the GPU in it.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517904"/>
            <a:ext cx="6537960" cy="3703320"/>
          </a:xfrm>
          <a:prstGeom prst="roundRect">
            <a:avLst>
              <a:gd name="adj" fmla="val 3500"/>
            </a:avLst>
          </a:prstGeom>
          <a:solidFill>
            <a:srgbClr val="FAFAFA"/>
          </a:solidFill>
          <a:ln w="12700">
            <a:solidFill>
              <a:srgbClr val="E4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59536" y="1737360"/>
            <a:ext cx="595274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1">
                <a:solidFill>
                  <a:srgbClr val="18181B"/>
                </a:solidFill>
                <a:latin typeface="Segoe UI"/>
              </a:rPr>
              <a:t>Demonstration flow</a:t>
            </a:r>
          </a:p>
        </p:txBody>
      </p:sp>
      <p:sp>
        <p:nvSpPr>
          <p:cNvPr id="7" name="Oval 6"/>
          <p:cNvSpPr/>
          <p:nvPr/>
        </p:nvSpPr>
        <p:spPr>
          <a:xfrm>
            <a:off x="859536" y="2212848"/>
            <a:ext cx="274320" cy="274320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2231136"/>
            <a:ext cx="5532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3F3F46"/>
                </a:solidFill>
                <a:latin typeface="Segoe UI"/>
              </a:rPr>
              <a:t>Browse staked capacity and open a lease, escrow funded up front</a:t>
            </a:r>
          </a:p>
        </p:txBody>
      </p:sp>
      <p:sp>
        <p:nvSpPr>
          <p:cNvPr id="9" name="Oval 8"/>
          <p:cNvSpPr/>
          <p:nvPr/>
        </p:nvSpPr>
        <p:spPr>
          <a:xfrm>
            <a:off x="859536" y="2688336"/>
            <a:ext cx="274320" cy="274320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2706624"/>
            <a:ext cx="5532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3F3F46"/>
                </a:solidFill>
                <a:latin typeface="Segoe UI"/>
              </a:rPr>
              <a:t>Provider agent accepts automatically and bonds 50 SMESH</a:t>
            </a:r>
          </a:p>
        </p:txBody>
      </p:sp>
      <p:sp>
        <p:nvSpPr>
          <p:cNvPr id="11" name="Oval 10"/>
          <p:cNvSpPr/>
          <p:nvPr/>
        </p:nvSpPr>
        <p:spPr>
          <a:xfrm>
            <a:off x="859536" y="3163824"/>
            <a:ext cx="274320" cy="274320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3182112"/>
            <a:ext cx="5532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3F3F46"/>
                </a:solidFill>
                <a:latin typeface="Segoe UI"/>
              </a:rPr>
              <a:t>SSH into the leased container and run nvidia-smi on the provider GPU</a:t>
            </a:r>
          </a:p>
        </p:txBody>
      </p:sp>
      <p:sp>
        <p:nvSpPr>
          <p:cNvPr id="13" name="Oval 12"/>
          <p:cNvSpPr/>
          <p:nvPr/>
        </p:nvSpPr>
        <p:spPr>
          <a:xfrm>
            <a:off x="859536" y="3639312"/>
            <a:ext cx="274320" cy="274320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Segoe UI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3657600"/>
            <a:ext cx="5532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3F3F46"/>
                </a:solidFill>
                <a:latin typeface="Segoe UI"/>
              </a:rPr>
              <a:t>Watch heartbeats and escrow stream per interval, then settle on chain</a:t>
            </a:r>
          </a:p>
        </p:txBody>
      </p:sp>
      <p:sp>
        <p:nvSpPr>
          <p:cNvPr id="15" name="Oval 14"/>
          <p:cNvSpPr/>
          <p:nvPr/>
        </p:nvSpPr>
        <p:spPr>
          <a:xfrm>
            <a:off x="859536" y="4114800"/>
            <a:ext cx="274320" cy="274320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Segoe UI"/>
              </a:rPr>
              <a:t>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4133088"/>
            <a:ext cx="5532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3F3F46"/>
                </a:solidFill>
                <a:latin typeface="Segoe UI"/>
              </a:rPr>
              <a:t>Call a model through a prepaid credit and settle metered usage</a:t>
            </a:r>
          </a:p>
        </p:txBody>
      </p:sp>
      <p:sp>
        <p:nvSpPr>
          <p:cNvPr id="17" name="Oval 16"/>
          <p:cNvSpPr/>
          <p:nvPr/>
        </p:nvSpPr>
        <p:spPr>
          <a:xfrm>
            <a:off x="859536" y="4590288"/>
            <a:ext cx="274320" cy="274320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Segoe UI"/>
              </a:rPr>
              <a:t>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80160" y="4608576"/>
            <a:ext cx="5532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3F3F46"/>
                </a:solidFill>
                <a:latin typeface="Segoe UI"/>
              </a:rPr>
              <a:t>Inspect the full event trail and the provider console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415784" y="1517904"/>
            <a:ext cx="4208983" cy="1755648"/>
          </a:xfrm>
          <a:prstGeom prst="roundRect">
            <a:avLst>
              <a:gd name="adj" fmla="val 3500"/>
            </a:avLst>
          </a:prstGeom>
          <a:solidFill>
            <a:srgbClr val="ECFDF5"/>
          </a:solidFill>
          <a:ln w="19050">
            <a:solidFill>
              <a:srgbClr val="158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690104" y="1719072"/>
            <a:ext cx="3660343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500" b="1">
                <a:solidFill>
                  <a:srgbClr val="15803D"/>
                </a:solidFill>
                <a:latin typeface="Segoe UI"/>
              </a:rPr>
              <a:t>Verified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50" b="0">
                <a:solidFill>
                  <a:srgbClr val="3F3F46"/>
                </a:solidFill>
                <a:latin typeface="Segoe UI"/>
              </a:rPr>
              <a:t>SSH session on an RTX 4070 obtained through a paid lease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50" b="0">
                <a:solidFill>
                  <a:srgbClr val="3F3F46"/>
                </a:solidFill>
                <a:latin typeface="Segoe UI"/>
              </a:rPr>
              <a:t>gemma3:4b served from that GPU, 761 tokens metered and settled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>
                <a:solidFill>
                  <a:srgbClr val="3F3F46"/>
                </a:solidFill>
                <a:latin typeface="Segoe UI"/>
              </a:rPr>
              <a:t>Six contracts deployed and source-verified on Sepolia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415784" y="3456432"/>
            <a:ext cx="4208983" cy="1764792"/>
          </a:xfrm>
          <a:prstGeom prst="roundRect">
            <a:avLst>
              <a:gd name="adj" fmla="val 3500"/>
            </a:avLst>
          </a:prstGeom>
          <a:solidFill>
            <a:srgbClr val="FAFAFA"/>
          </a:solidFill>
          <a:ln w="12700">
            <a:solidFill>
              <a:srgbClr val="E4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7690104" y="3657600"/>
            <a:ext cx="3660343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500" b="1">
                <a:solidFill>
                  <a:srgbClr val="18181B"/>
                </a:solidFill>
                <a:latin typeface="Segoe UI"/>
              </a:rPr>
              <a:t>Next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50" b="0">
                <a:solidFill>
                  <a:srgbClr val="52525B"/>
                </a:solidFill>
                <a:latin typeface="Segoe UI"/>
              </a:rPr>
              <a:t>Signature-gated lease credentials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50" b="0">
                <a:solidFill>
                  <a:srgbClr val="52525B"/>
                </a:solidFill>
                <a:latin typeface="Segoe UI"/>
              </a:rPr>
              <a:t>Provider-signed usage receipts for inference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>
                <a:solidFill>
                  <a:srgbClr val="52525B"/>
                </a:solidFill>
                <a:latin typeface="Segoe UI"/>
              </a:rPr>
              <a:t>On-chain benchmark challenge with slashing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5413248"/>
            <a:ext cx="11057839" cy="786384"/>
          </a:xfrm>
          <a:prstGeom prst="roundRect">
            <a:avLst>
              <a:gd name="adj" fmla="val 3500"/>
            </a:avLst>
          </a:prstGeom>
          <a:solidFill>
            <a:srgbClr val="FEF3C7"/>
          </a:solidFill>
          <a:ln w="1905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859536" y="5596128"/>
            <a:ext cx="1047262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>
                <a:solidFill>
                  <a:srgbClr val="18181B"/>
                </a:solidFill>
                <a:latin typeface="Segoe UI"/>
              </a:rPr>
              <a:t>Missed heartbeats refund the requester and slash the provider bond, enforcing availability with collateral.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" y="6382512"/>
            <a:ext cx="100519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71717A"/>
                </a:solidFill>
                <a:latin typeface="Segoe UI"/>
              </a:rPr>
              <a:t>ShaderMesh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801807" y="6382512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000" b="1">
                <a:solidFill>
                  <a:srgbClr val="71717A"/>
                </a:solidFill>
                <a:latin typeface="Segoe UI"/>
              </a:rPr>
              <a:t>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