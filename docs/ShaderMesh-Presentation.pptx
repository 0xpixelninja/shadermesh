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project and the team. Eight to ten minutes in total.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Rental has no checkable output, so trust must come from collateral and provable availability. The chain is the trust, coordination and payment layer, not the compute layer.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Rental is the headline use case. The verifiable task mode is retained and shares the same stake and slashing layer.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chain holds value and decides outcomes. Everything else can be replaced or can lie without moving funds.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Contracts hold value and decide outcomes. The agent, orchestrator and web app are untrusted and cannot custody funds or forge results. The attester judges challenges and is the one trusted operator role.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missed interval cannot be back-filled, so payment follows proven availability.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closes the gap where a provider claims hardware it does not have. The attester remains the trusted party.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Value only moves through contract calls.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Screenshots are from the running local stack.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Counts are from the latest local run. The skipped orchestrator test is an integration test that needs a running stack. Gas figures come from the measured run in the report.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Detection chart: cheating pays below the break-even spot-check rate and loses above it. Rental economics: provider payout plus requester refund plus slash always equals escrow plus bond.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Contract addresses and transaction hashes are in the final report.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direct about the attester: it is the main remaining trust assumption in the challenge design.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the local stack running in the background before the talk starts.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777240"/>
            <a:ext cx="109728" cy="10972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3232" y="777240"/>
            <a:ext cx="109728" cy="109728"/>
          </a:xfrm>
          <a:prstGeom prst="rect">
            <a:avLst/>
          </a:prstGeom>
          <a:solidFill>
            <a:srgbClr val="D3CE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59536" y="777240"/>
            <a:ext cx="109728" cy="109728"/>
          </a:xfrm>
          <a:prstGeom prst="rect">
            <a:avLst/>
          </a:prstGeom>
          <a:solidFill>
            <a:srgbClr val="D3CE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923544"/>
            <a:ext cx="109728" cy="109728"/>
          </a:xfrm>
          <a:prstGeom prst="rect">
            <a:avLst/>
          </a:prstGeom>
          <a:solidFill>
            <a:srgbClr val="D3CE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 y="923544"/>
            <a:ext cx="109728" cy="10972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59536" y="923544"/>
            <a:ext cx="109728" cy="109728"/>
          </a:xfrm>
          <a:prstGeom prst="rect">
            <a:avLst/>
          </a:prstGeom>
          <a:solidFill>
            <a:srgbClr val="D3CE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069848"/>
            <a:ext cx="109728" cy="109728"/>
          </a:xfrm>
          <a:prstGeom prst="rect">
            <a:avLst/>
          </a:prstGeom>
          <a:solidFill>
            <a:srgbClr val="D3CE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 y="1069848"/>
            <a:ext cx="109728" cy="109728"/>
          </a:xfrm>
          <a:prstGeom prst="rect">
            <a:avLst/>
          </a:prstGeom>
          <a:solidFill>
            <a:srgbClr val="D3CE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9536" y="1069848"/>
            <a:ext cx="109728" cy="10972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1572768"/>
            <a:ext cx="8229600" cy="914400"/>
          </a:xfrm>
          <a:prstGeom prst="rect">
            <a:avLst/>
          </a:prstGeom>
          <a:noFill/>
        </p:spPr>
        <p:txBody>
          <a:bodyPr wrap="square" lIns="0" rIns="0" tIns="0" bIns="0" anchor="t">
            <a:spAutoFit/>
          </a:bodyPr>
          <a:lstStyle/>
          <a:p>
            <a:pPr algn="l">
              <a:lnSpc>
                <a:spcPct val="115000"/>
              </a:lnSpc>
              <a:spcAft>
                <a:spcPts val="0"/>
              </a:spcAft>
            </a:pPr>
            <a:r>
              <a:rPr sz="6000" b="1">
                <a:solidFill>
                  <a:srgbClr val="1A1814"/>
                </a:solidFill>
                <a:latin typeface="Segoe UI"/>
              </a:rPr>
              <a:t>ShaderMesh</a:t>
            </a:r>
          </a:p>
        </p:txBody>
      </p:sp>
      <p:sp>
        <p:nvSpPr>
          <p:cNvPr id="13" name="TextBox 12"/>
          <p:cNvSpPr txBox="1"/>
          <p:nvPr/>
        </p:nvSpPr>
        <p:spPr>
          <a:xfrm>
            <a:off x="566928" y="2560320"/>
            <a:ext cx="9601200" cy="457200"/>
          </a:xfrm>
          <a:prstGeom prst="rect">
            <a:avLst/>
          </a:prstGeom>
          <a:noFill/>
        </p:spPr>
        <p:txBody>
          <a:bodyPr wrap="square" lIns="0" rIns="0" tIns="0" bIns="0" anchor="t">
            <a:spAutoFit/>
          </a:bodyPr>
          <a:lstStyle/>
          <a:p>
            <a:pPr algn="l">
              <a:lnSpc>
                <a:spcPct val="115000"/>
              </a:lnSpc>
              <a:spcAft>
                <a:spcPts val="0"/>
              </a:spcAft>
            </a:pPr>
            <a:r>
              <a:rPr sz="2000" b="0">
                <a:solidFill>
                  <a:srgbClr val="5E5950"/>
                </a:solidFill>
                <a:latin typeface="Segoe UI"/>
              </a:rPr>
              <a:t>A decentralized marketplace for renting GPU compute on Ethereum</a:t>
            </a:r>
          </a:p>
        </p:txBody>
      </p:sp>
      <p:sp>
        <p:nvSpPr>
          <p:cNvPr id="14" name="Rectangle 13"/>
          <p:cNvSpPr/>
          <p:nvPr/>
        </p:nvSpPr>
        <p:spPr>
          <a:xfrm>
            <a:off x="566928" y="3246120"/>
            <a:ext cx="1463040" cy="3175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3566160"/>
            <a:ext cx="8229600" cy="1097280"/>
          </a:xfrm>
          <a:prstGeom prst="rect">
            <a:avLst/>
          </a:prstGeom>
          <a:noFill/>
        </p:spPr>
        <p:txBody>
          <a:bodyPr wrap="square" lIns="0" rIns="0" tIns="0" bIns="0" anchor="t">
            <a:spAutoFit/>
          </a:bodyPr>
          <a:lstStyle/>
          <a:p>
            <a:pPr algn="l">
              <a:lnSpc>
                <a:spcPct val="115000"/>
              </a:lnSpc>
              <a:spcAft>
                <a:spcPts val="600"/>
              </a:spcAft>
            </a:pPr>
            <a:r>
              <a:rPr sz="1300" b="1">
                <a:solidFill>
                  <a:srgbClr val="1A1814"/>
                </a:solidFill>
                <a:latin typeface="Segoe UI"/>
              </a:rPr>
              <a:t>Rakesh Kumar Rabha (24BCC7002), Nilam Sikdar (24BCC7025), Animesh Mishra (24BCC7016)</a:t>
            </a:r>
          </a:p>
          <a:p>
            <a:pPr algn="l">
              <a:lnSpc>
                <a:spcPct val="115000"/>
              </a:lnSpc>
              <a:spcAft>
                <a:spcPts val="0"/>
              </a:spcAft>
            </a:pPr>
            <a:r>
              <a:rPr sz="1600" b="0">
                <a:solidFill>
                  <a:srgbClr val="3A362F"/>
                </a:solidFill>
                <a:latin typeface="Segoe UI"/>
              </a:rPr>
              <a:t>Guide: [GUIDE NAME]</a:t>
            </a:r>
          </a:p>
        </p:txBody>
      </p:sp>
      <p:sp>
        <p:nvSpPr>
          <p:cNvPr id="16" name="TextBox 15"/>
          <p:cNvSpPr txBox="1"/>
          <p:nvPr/>
        </p:nvSpPr>
        <p:spPr>
          <a:xfrm>
            <a:off x="566928" y="4663440"/>
            <a:ext cx="8229600" cy="822960"/>
          </a:xfrm>
          <a:prstGeom prst="rect">
            <a:avLst/>
          </a:prstGeom>
          <a:noFill/>
        </p:spPr>
        <p:txBody>
          <a:bodyPr wrap="square" lIns="0" rIns="0" tIns="0" bIns="0" anchor="t">
            <a:spAutoFit/>
          </a:bodyPr>
          <a:lstStyle/>
          <a:p>
            <a:pPr algn="l">
              <a:lnSpc>
                <a:spcPct val="115000"/>
              </a:lnSpc>
              <a:spcAft>
                <a:spcPts val="400"/>
              </a:spcAft>
            </a:pPr>
            <a:r>
              <a:rPr sz="1500" b="0">
                <a:solidFill>
                  <a:srgbClr val="3A362F"/>
                </a:solidFill>
                <a:latin typeface="Segoe UI"/>
              </a:rPr>
              <a:t>VIT-AP University</a:t>
            </a:r>
          </a:p>
          <a:p>
            <a:pPr algn="l">
              <a:lnSpc>
                <a:spcPct val="115000"/>
              </a:lnSpc>
              <a:spcAft>
                <a:spcPts val="0"/>
              </a:spcAft>
            </a:pPr>
            <a:r>
              <a:rPr sz="1500" b="0">
                <a:solidFill>
                  <a:srgbClr val="5E5950"/>
                </a:solidFill>
                <a:latin typeface="Segoe UI"/>
              </a:rPr>
              <a:t>Final review  |  October 2026</a:t>
            </a:r>
          </a:p>
        </p:txBody>
      </p:sp>
      <p:pic>
        <p:nvPicPr>
          <p:cNvPr id="17" name="Picture 16" descr="solidity.png"/>
          <p:cNvPicPr>
            <a:picLocks noChangeAspect="1"/>
          </p:cNvPicPr>
          <p:nvPr/>
        </p:nvPicPr>
        <p:blipFill>
          <a:blip r:embed="rId2"/>
          <a:stretch>
            <a:fillRect/>
          </a:stretch>
        </p:blipFill>
        <p:spPr>
          <a:xfrm>
            <a:off x="566928" y="5806440"/>
            <a:ext cx="274320" cy="274320"/>
          </a:xfrm>
          <a:prstGeom prst="rect">
            <a:avLst/>
          </a:prstGeom>
        </p:spPr>
      </p:pic>
      <p:pic>
        <p:nvPicPr>
          <p:cNvPr id="18" name="Picture 17" descr="ethereum.png"/>
          <p:cNvPicPr>
            <a:picLocks noChangeAspect="1"/>
          </p:cNvPicPr>
          <p:nvPr/>
        </p:nvPicPr>
        <p:blipFill>
          <a:blip r:embed="rId3"/>
          <a:stretch>
            <a:fillRect/>
          </a:stretch>
        </p:blipFill>
        <p:spPr>
          <a:xfrm>
            <a:off x="1042416" y="5806440"/>
            <a:ext cx="274320" cy="274320"/>
          </a:xfrm>
          <a:prstGeom prst="rect">
            <a:avLst/>
          </a:prstGeom>
        </p:spPr>
      </p:pic>
      <p:pic>
        <p:nvPicPr>
          <p:cNvPr id="19" name="Picture 18" descr="python.png"/>
          <p:cNvPicPr>
            <a:picLocks noChangeAspect="1"/>
          </p:cNvPicPr>
          <p:nvPr/>
        </p:nvPicPr>
        <p:blipFill>
          <a:blip r:embed="rId4"/>
          <a:stretch>
            <a:fillRect/>
          </a:stretch>
        </p:blipFill>
        <p:spPr>
          <a:xfrm>
            <a:off x="1517904" y="5806440"/>
            <a:ext cx="274320" cy="274320"/>
          </a:xfrm>
          <a:prstGeom prst="rect">
            <a:avLst/>
          </a:prstGeom>
        </p:spPr>
      </p:pic>
      <p:pic>
        <p:nvPicPr>
          <p:cNvPr id="20" name="Picture 19" descr="nodejs.png"/>
          <p:cNvPicPr>
            <a:picLocks noChangeAspect="1"/>
          </p:cNvPicPr>
          <p:nvPr/>
        </p:nvPicPr>
        <p:blipFill>
          <a:blip r:embed="rId5"/>
          <a:stretch>
            <a:fillRect/>
          </a:stretch>
        </p:blipFill>
        <p:spPr>
          <a:xfrm>
            <a:off x="1993392" y="5806440"/>
            <a:ext cx="274320" cy="274320"/>
          </a:xfrm>
          <a:prstGeom prst="rect">
            <a:avLst/>
          </a:prstGeom>
        </p:spPr>
      </p:pic>
      <p:pic>
        <p:nvPicPr>
          <p:cNvPr id="21" name="Picture 20" descr="typescript.png"/>
          <p:cNvPicPr>
            <a:picLocks noChangeAspect="1"/>
          </p:cNvPicPr>
          <p:nvPr/>
        </p:nvPicPr>
        <p:blipFill>
          <a:blip r:embed="rId6"/>
          <a:stretch>
            <a:fillRect/>
          </a:stretch>
        </p:blipFill>
        <p:spPr>
          <a:xfrm>
            <a:off x="2468880" y="5806440"/>
            <a:ext cx="274320" cy="274320"/>
          </a:xfrm>
          <a:prstGeom prst="rect">
            <a:avLst/>
          </a:prstGeom>
        </p:spPr>
      </p:pic>
      <p:pic>
        <p:nvPicPr>
          <p:cNvPr id="22" name="Picture 21" descr="nextjs.png"/>
          <p:cNvPicPr>
            <a:picLocks noChangeAspect="1"/>
          </p:cNvPicPr>
          <p:nvPr/>
        </p:nvPicPr>
        <p:blipFill>
          <a:blip r:embed="rId7"/>
          <a:stretch>
            <a:fillRect/>
          </a:stretch>
        </p:blipFill>
        <p:spPr>
          <a:xfrm>
            <a:off x="2944368" y="5806440"/>
            <a:ext cx="274320" cy="274320"/>
          </a:xfrm>
          <a:prstGeom prst="rect">
            <a:avLst/>
          </a:prstGeom>
        </p:spPr>
      </p:pic>
      <p:pic>
        <p:nvPicPr>
          <p:cNvPr id="23" name="Picture 22" descr="react.png"/>
          <p:cNvPicPr>
            <a:picLocks noChangeAspect="1"/>
          </p:cNvPicPr>
          <p:nvPr/>
        </p:nvPicPr>
        <p:blipFill>
          <a:blip r:embed="rId8"/>
          <a:stretch>
            <a:fillRect/>
          </a:stretch>
        </p:blipFill>
        <p:spPr>
          <a:xfrm>
            <a:off x="3419856" y="5806440"/>
            <a:ext cx="274320" cy="274320"/>
          </a:xfrm>
          <a:prstGeom prst="rect">
            <a:avLst/>
          </a:prstGeom>
        </p:spPr>
      </p:pic>
      <p:pic>
        <p:nvPicPr>
          <p:cNvPr id="24" name="Picture 23" descr="docker.png"/>
          <p:cNvPicPr>
            <a:picLocks noChangeAspect="1"/>
          </p:cNvPicPr>
          <p:nvPr/>
        </p:nvPicPr>
        <p:blipFill>
          <a:blip r:embed="rId9"/>
          <a:stretch>
            <a:fillRect/>
          </a:stretch>
        </p:blipFill>
        <p:spPr>
          <a:xfrm>
            <a:off x="3895344" y="5806440"/>
            <a:ext cx="274320" cy="274320"/>
          </a:xfrm>
          <a:prstGeom prst="rect">
            <a:avLst/>
          </a:prstGeom>
        </p:spPr>
      </p:pic>
      <p:pic>
        <p:nvPicPr>
          <p:cNvPr id="25" name="Picture 24" descr="nvidia.png"/>
          <p:cNvPicPr>
            <a:picLocks noChangeAspect="1"/>
          </p:cNvPicPr>
          <p:nvPr/>
        </p:nvPicPr>
        <p:blipFill>
          <a:blip r:embed="rId10"/>
          <a:stretch>
            <a:fillRect/>
          </a:stretch>
        </p:blipFill>
        <p:spPr>
          <a:xfrm>
            <a:off x="4370832" y="5806440"/>
            <a:ext cx="274320" cy="274320"/>
          </a:xfrm>
          <a:prstGeom prst="rect">
            <a:avLst/>
          </a:prstGeom>
        </p:spPr>
      </p:pic>
      <p:sp>
        <p:nvSpPr>
          <p:cNvPr id="26" name="TextBox 25"/>
          <p:cNvSpPr txBox="1"/>
          <p:nvPr/>
        </p:nvSpPr>
        <p:spPr>
          <a:xfrm>
            <a:off x="10801807" y="6382512"/>
            <a:ext cx="822960" cy="274320"/>
          </a:xfrm>
          <a:prstGeom prst="rect">
            <a:avLst/>
          </a:prstGeom>
          <a:noFill/>
        </p:spPr>
        <p:txBody>
          <a:bodyPr wrap="square" lIns="0" rIns="0" tIns="0" bIns="0" anchor="t">
            <a:spAutoFit/>
          </a:bodyPr>
          <a:lstStyle/>
          <a:p>
            <a:pPr algn="r">
              <a:lnSpc>
                <a:spcPct val="115000"/>
              </a:lnSpc>
              <a:spcAft>
                <a:spcPts val="0"/>
              </a:spcAft>
            </a:pPr>
            <a:r>
              <a:rPr sz="1000" b="1">
                <a:solidFill>
                  <a:srgbClr val="6F6A60"/>
                </a:solidFill>
                <a:latin typeface="Segoe U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02336"/>
            <a:ext cx="822960" cy="3175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548640"/>
            <a:ext cx="11057839" cy="822960"/>
          </a:xfrm>
          <a:prstGeom prst="rect">
            <a:avLst/>
          </a:prstGeom>
          <a:noFill/>
        </p:spPr>
        <p:txBody>
          <a:bodyPr wrap="square" lIns="0" rIns="0" tIns="0" bIns="0" anchor="t">
            <a:spAutoFit/>
          </a:bodyPr>
          <a:lstStyle/>
          <a:p>
            <a:pPr algn="l">
              <a:lnSpc>
                <a:spcPct val="115000"/>
              </a:lnSpc>
              <a:spcAft>
                <a:spcPts val="400"/>
              </a:spcAft>
            </a:pPr>
            <a:r>
              <a:rPr sz="3000" b="1">
                <a:solidFill>
                  <a:srgbClr val="1A1814"/>
                </a:solidFill>
                <a:latin typeface="Segoe UI"/>
              </a:rPr>
              <a:t>Problem and why blockchain</a:t>
            </a:r>
          </a:p>
          <a:p>
            <a:pPr algn="l">
              <a:lnSpc>
                <a:spcPct val="115000"/>
              </a:lnSpc>
              <a:spcAft>
                <a:spcPts val="0"/>
              </a:spcAft>
            </a:pPr>
            <a:r>
              <a:rPr sz="1350" b="0">
                <a:solidFill>
                  <a:srgbClr val="5E5950"/>
                </a:solidFill>
                <a:latin typeface="Segoe UI"/>
              </a:rPr>
              <a:t>Renting compute from a stranger requires trusting the stranger.</a:t>
            </a:r>
          </a:p>
        </p:txBody>
      </p:sp>
      <p:sp>
        <p:nvSpPr>
          <p:cNvPr id="5" name="Rounded Rectangle 4"/>
          <p:cNvSpPr/>
          <p:nvPr/>
        </p:nvSpPr>
        <p:spPr>
          <a:xfrm>
            <a:off x="566928" y="1645920"/>
            <a:ext cx="5346039" cy="3931920"/>
          </a:xfrm>
          <a:prstGeom prst="roundRect">
            <a:avLst>
              <a:gd name="adj" fmla="val 3500"/>
            </a:avLst>
          </a:prstGeom>
          <a:solidFill>
            <a:srgbClr val="F3F1EC"/>
          </a:solidFill>
          <a:ln w="12700">
            <a:solidFill>
              <a:srgbClr val="E6E2D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1920240"/>
            <a:ext cx="4687671" cy="3474720"/>
          </a:xfrm>
          <a:prstGeom prst="rect">
            <a:avLst/>
          </a:prstGeom>
          <a:noFill/>
        </p:spPr>
        <p:txBody>
          <a:bodyPr wrap="square" lIns="0" rIns="0" tIns="0" bIns="0" anchor="t">
            <a:spAutoFit/>
          </a:bodyPr>
          <a:lstStyle/>
          <a:p>
            <a:pPr algn="l">
              <a:lnSpc>
                <a:spcPct val="115000"/>
              </a:lnSpc>
              <a:spcAft>
                <a:spcPts val="1600"/>
              </a:spcAft>
            </a:pPr>
            <a:r>
              <a:rPr sz="2000" b="1">
                <a:solidFill>
                  <a:srgbClr val="1A1814"/>
                </a:solidFill>
                <a:latin typeface="Segoe UI"/>
              </a:rPr>
              <a:t>The problem</a:t>
            </a:r>
          </a:p>
          <a:p>
            <a:pPr algn="l">
              <a:lnSpc>
                <a:spcPct val="115000"/>
              </a:lnSpc>
              <a:spcAft>
                <a:spcPts val="300"/>
              </a:spcAft>
            </a:pPr>
            <a:r>
              <a:rPr sz="1800" b="1">
                <a:solidFill>
                  <a:srgbClr val="1A1814"/>
                </a:solidFill>
                <a:latin typeface="Segoe UI"/>
              </a:rPr>
              <a:t>Concentrated supply</a:t>
            </a:r>
          </a:p>
          <a:p>
            <a:pPr algn="l">
              <a:lnSpc>
                <a:spcPct val="115000"/>
              </a:lnSpc>
              <a:spcAft>
                <a:spcPts val="1600"/>
              </a:spcAft>
            </a:pPr>
            <a:r>
              <a:rPr sz="1600" b="0">
                <a:solidFill>
                  <a:srgbClr val="5E5950"/>
                </a:solidFill>
                <a:latin typeface="Segoe UI"/>
              </a:rPr>
              <a:t>A few clouds set price while consumer GPUs sit idle.</a:t>
            </a:r>
          </a:p>
          <a:p>
            <a:pPr algn="l">
              <a:lnSpc>
                <a:spcPct val="115000"/>
              </a:lnSpc>
              <a:spcAft>
                <a:spcPts val="300"/>
              </a:spcAft>
            </a:pPr>
            <a:r>
              <a:rPr sz="1800" b="1">
                <a:solidFill>
                  <a:srgbClr val="1A1814"/>
                </a:solidFill>
                <a:latin typeface="Segoe UI"/>
              </a:rPr>
              <a:t>Nothing to re-run</a:t>
            </a:r>
          </a:p>
          <a:p>
            <a:pPr algn="l">
              <a:lnSpc>
                <a:spcPct val="115000"/>
              </a:lnSpc>
              <a:spcAft>
                <a:spcPts val="1600"/>
              </a:spcAft>
            </a:pPr>
            <a:r>
              <a:rPr sz="1600" b="0">
                <a:solidFill>
                  <a:srgbClr val="5E5950"/>
                </a:solidFill>
                <a:latin typeface="Segoe UI"/>
              </a:rPr>
              <a:t>A rented interval has no output to recompute and check.</a:t>
            </a:r>
          </a:p>
          <a:p>
            <a:pPr algn="l">
              <a:lnSpc>
                <a:spcPct val="115000"/>
              </a:lnSpc>
              <a:spcAft>
                <a:spcPts val="300"/>
              </a:spcAft>
            </a:pPr>
            <a:r>
              <a:rPr sz="1800" b="1">
                <a:solidFill>
                  <a:srgbClr val="1A1814"/>
                </a:solidFill>
                <a:latin typeface="Segoe UI"/>
              </a:rPr>
              <a:t>Pay first, hope later</a:t>
            </a:r>
          </a:p>
          <a:p>
            <a:pPr algn="l">
              <a:lnSpc>
                <a:spcPct val="115000"/>
              </a:lnSpc>
              <a:spcAft>
                <a:spcPts val="1600"/>
              </a:spcAft>
            </a:pPr>
            <a:r>
              <a:rPr sz="1600" b="0">
                <a:solidFill>
                  <a:srgbClr val="5E5950"/>
                </a:solidFill>
                <a:latin typeface="Segoe UI"/>
              </a:rPr>
              <a:t>No automatic remedy for downtime.</a:t>
            </a:r>
          </a:p>
        </p:txBody>
      </p:sp>
      <p:sp>
        <p:nvSpPr>
          <p:cNvPr id="7" name="Rounded Rectangle 6"/>
          <p:cNvSpPr/>
          <p:nvPr/>
        </p:nvSpPr>
        <p:spPr>
          <a:xfrm>
            <a:off x="6278727" y="1645920"/>
            <a:ext cx="5346039" cy="3931920"/>
          </a:xfrm>
          <a:prstGeom prst="roundRect">
            <a:avLst>
              <a:gd name="adj" fmla="val 3500"/>
            </a:avLst>
          </a:prstGeom>
          <a:solidFill>
            <a:srgbClr val="FDF3E1"/>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607911" y="1920240"/>
            <a:ext cx="4687671" cy="3474720"/>
          </a:xfrm>
          <a:prstGeom prst="rect">
            <a:avLst/>
          </a:prstGeom>
          <a:noFill/>
        </p:spPr>
        <p:txBody>
          <a:bodyPr wrap="square" lIns="0" rIns="0" tIns="0" bIns="0" anchor="t">
            <a:spAutoFit/>
          </a:bodyPr>
          <a:lstStyle/>
          <a:p>
            <a:pPr algn="l">
              <a:lnSpc>
                <a:spcPct val="115000"/>
              </a:lnSpc>
              <a:spcAft>
                <a:spcPts val="1600"/>
              </a:spcAft>
            </a:pPr>
            <a:r>
              <a:rPr sz="2000" b="1">
                <a:solidFill>
                  <a:srgbClr val="A34A06"/>
                </a:solidFill>
                <a:latin typeface="Segoe UI"/>
              </a:rPr>
              <a:t>Why a blockchain</a:t>
            </a:r>
          </a:p>
          <a:p>
            <a:pPr algn="l">
              <a:lnSpc>
                <a:spcPct val="115000"/>
              </a:lnSpc>
              <a:spcAft>
                <a:spcPts val="300"/>
              </a:spcAft>
            </a:pPr>
            <a:r>
              <a:rPr sz="1800" b="1">
                <a:solidFill>
                  <a:srgbClr val="1A1814"/>
                </a:solidFill>
                <a:latin typeface="Segoe UI"/>
              </a:rPr>
              <a:t>Neutral escrow</a:t>
            </a:r>
          </a:p>
          <a:p>
            <a:pPr algn="l">
              <a:lnSpc>
                <a:spcPct val="115000"/>
              </a:lnSpc>
              <a:spcAft>
                <a:spcPts val="1600"/>
              </a:spcAft>
            </a:pPr>
            <a:r>
              <a:rPr sz="1600" b="0">
                <a:solidFill>
                  <a:srgbClr val="5E5950"/>
                </a:solidFill>
                <a:latin typeface="Segoe UI"/>
              </a:rPr>
              <a:t>Funds sit in a contract neither party controls.</a:t>
            </a:r>
          </a:p>
          <a:p>
            <a:pPr algn="l">
              <a:lnSpc>
                <a:spcPct val="115000"/>
              </a:lnSpc>
              <a:spcAft>
                <a:spcPts val="300"/>
              </a:spcAft>
            </a:pPr>
            <a:r>
              <a:rPr sz="1800" b="1">
                <a:solidFill>
                  <a:srgbClr val="1A1814"/>
                </a:solidFill>
                <a:latin typeface="Segoe UI"/>
              </a:rPr>
              <a:t>Enforceable collateral</a:t>
            </a:r>
          </a:p>
          <a:p>
            <a:pPr algn="l">
              <a:lnSpc>
                <a:spcPct val="115000"/>
              </a:lnSpc>
              <a:spcAft>
                <a:spcPts val="1600"/>
              </a:spcAft>
            </a:pPr>
            <a:r>
              <a:rPr sz="1600" b="0">
                <a:solidFill>
                  <a:srgbClr val="5E5950"/>
                </a:solidFill>
                <a:latin typeface="Segoe UI"/>
              </a:rPr>
              <a:t>Stake and slashing make downtime costly.</a:t>
            </a:r>
          </a:p>
          <a:p>
            <a:pPr algn="l">
              <a:lnSpc>
                <a:spcPct val="115000"/>
              </a:lnSpc>
              <a:spcAft>
                <a:spcPts val="300"/>
              </a:spcAft>
            </a:pPr>
            <a:r>
              <a:rPr sz="1800" b="1">
                <a:solidFill>
                  <a:srgbClr val="1A1814"/>
                </a:solidFill>
                <a:latin typeface="Segoe UI"/>
              </a:rPr>
              <a:t>Public record</a:t>
            </a:r>
          </a:p>
          <a:p>
            <a:pPr algn="l">
              <a:lnSpc>
                <a:spcPct val="115000"/>
              </a:lnSpc>
              <a:spcAft>
                <a:spcPts val="1600"/>
              </a:spcAft>
            </a:pPr>
            <a:r>
              <a:rPr sz="1600" b="0">
                <a:solidFill>
                  <a:srgbClr val="5E5950"/>
                </a:solidFill>
                <a:latin typeface="Segoe UI"/>
              </a:rPr>
              <a:t>Heartbeats and settlement are auditable.</a:t>
            </a:r>
          </a:p>
        </p:txBody>
      </p:sp>
      <p:sp>
        <p:nvSpPr>
          <p:cNvPr id="9" name="TextBox 8"/>
          <p:cNvSpPr txBox="1"/>
          <p:nvPr/>
        </p:nvSpPr>
        <p:spPr>
          <a:xfrm>
            <a:off x="566928" y="6382512"/>
            <a:ext cx="10051999" cy="274320"/>
          </a:xfrm>
          <a:prstGeom prst="rect">
            <a:avLst/>
          </a:prstGeom>
          <a:noFill/>
        </p:spPr>
        <p:txBody>
          <a:bodyPr wrap="square" lIns="0" rIns="0" tIns="0" bIns="0" anchor="t">
            <a:spAutoFit/>
          </a:bodyPr>
          <a:lstStyle/>
          <a:p>
            <a:pPr algn="l">
              <a:lnSpc>
                <a:spcPct val="115000"/>
              </a:lnSpc>
              <a:spcAft>
                <a:spcPts val="0"/>
              </a:spcAft>
            </a:pPr>
            <a:r>
              <a:rPr sz="1000" b="0">
                <a:solidFill>
                  <a:srgbClr val="6F6A60"/>
                </a:solidFill>
                <a:latin typeface="Segoe UI"/>
              </a:rPr>
              <a:t>ShaderMesh</a:t>
            </a:r>
          </a:p>
        </p:txBody>
      </p:sp>
      <p:sp>
        <p:nvSpPr>
          <p:cNvPr id="10" name="TextBox 9"/>
          <p:cNvSpPr txBox="1"/>
          <p:nvPr/>
        </p:nvSpPr>
        <p:spPr>
          <a:xfrm>
            <a:off x="10801807" y="6382512"/>
            <a:ext cx="822960" cy="274320"/>
          </a:xfrm>
          <a:prstGeom prst="rect">
            <a:avLst/>
          </a:prstGeom>
          <a:noFill/>
        </p:spPr>
        <p:txBody>
          <a:bodyPr wrap="square" lIns="0" rIns="0" tIns="0" bIns="0" anchor="t">
            <a:spAutoFit/>
          </a:bodyPr>
          <a:lstStyle/>
          <a:p>
            <a:pPr algn="r">
              <a:lnSpc>
                <a:spcPct val="115000"/>
              </a:lnSpc>
              <a:spcAft>
                <a:spcPts val="0"/>
              </a:spcAft>
            </a:pPr>
            <a:r>
              <a:rPr sz="1000" b="1">
                <a:solidFill>
                  <a:srgbClr val="6F6A60"/>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02336"/>
            <a:ext cx="822960" cy="3175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548640"/>
            <a:ext cx="11057839" cy="822960"/>
          </a:xfrm>
          <a:prstGeom prst="rect">
            <a:avLst/>
          </a:prstGeom>
          <a:noFill/>
        </p:spPr>
        <p:txBody>
          <a:bodyPr wrap="square" lIns="0" rIns="0" tIns="0" bIns="0" anchor="t">
            <a:spAutoFit/>
          </a:bodyPr>
          <a:lstStyle/>
          <a:p>
            <a:pPr algn="l">
              <a:lnSpc>
                <a:spcPct val="115000"/>
              </a:lnSpc>
              <a:spcAft>
                <a:spcPts val="400"/>
              </a:spcAft>
            </a:pPr>
            <a:r>
              <a:rPr sz="3000" b="1">
                <a:solidFill>
                  <a:srgbClr val="1A1814"/>
                </a:solidFill>
                <a:latin typeface="Segoe UI"/>
              </a:rPr>
              <a:t>What ShaderMesh is</a:t>
            </a:r>
          </a:p>
          <a:p>
            <a:pPr algn="l">
              <a:lnSpc>
                <a:spcPct val="115000"/>
              </a:lnSpc>
              <a:spcAft>
                <a:spcPts val="0"/>
              </a:spcAft>
            </a:pPr>
            <a:r>
              <a:rPr sz="1350" b="0">
                <a:solidFill>
                  <a:srgbClr val="5E5950"/>
                </a:solidFill>
                <a:latin typeface="Segoe UI"/>
              </a:rPr>
              <a:t>Two market modes share one staking, reputation and slashing layer.</a:t>
            </a:r>
          </a:p>
        </p:txBody>
      </p:sp>
      <p:pic>
        <p:nvPicPr>
          <p:cNvPr id="5" name="Picture 4" descr="system-context.png"/>
          <p:cNvPicPr>
            <a:picLocks noChangeAspect="1"/>
          </p:cNvPicPr>
          <p:nvPr/>
        </p:nvPicPr>
        <p:blipFill>
          <a:blip r:embed="rId2"/>
          <a:stretch>
            <a:fillRect/>
          </a:stretch>
        </p:blipFill>
        <p:spPr>
          <a:xfrm>
            <a:off x="566928" y="1771226"/>
            <a:ext cx="7034480" cy="4092788"/>
          </a:xfrm>
          <a:prstGeom prst="rect">
            <a:avLst/>
          </a:prstGeom>
        </p:spPr>
      </p:pic>
      <p:sp>
        <p:nvSpPr>
          <p:cNvPr id="6" name="Rounded Rectangle 5"/>
          <p:cNvSpPr/>
          <p:nvPr/>
        </p:nvSpPr>
        <p:spPr>
          <a:xfrm>
            <a:off x="7875728" y="1325880"/>
            <a:ext cx="3749039" cy="2377440"/>
          </a:xfrm>
          <a:prstGeom prst="roundRect">
            <a:avLst>
              <a:gd name="adj" fmla="val 3500"/>
            </a:avLst>
          </a:prstGeom>
          <a:solidFill>
            <a:srgbClr val="FDF3E1"/>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113472" y="1545336"/>
            <a:ext cx="3273551" cy="2011680"/>
          </a:xfrm>
          <a:prstGeom prst="rect">
            <a:avLst/>
          </a:prstGeom>
          <a:noFill/>
        </p:spPr>
        <p:txBody>
          <a:bodyPr wrap="square" lIns="0" rIns="0" tIns="0" bIns="0" anchor="t">
            <a:spAutoFit/>
          </a:bodyPr>
          <a:lstStyle/>
          <a:p>
            <a:pPr algn="l">
              <a:lnSpc>
                <a:spcPct val="115000"/>
              </a:lnSpc>
              <a:spcAft>
                <a:spcPts val="400"/>
              </a:spcAft>
            </a:pPr>
            <a:r>
              <a:rPr sz="1800" b="1">
                <a:solidFill>
                  <a:srgbClr val="A34A06"/>
                </a:solidFill>
                <a:latin typeface="Segoe UI"/>
              </a:rPr>
              <a:t>Rental (primary)</a:t>
            </a:r>
          </a:p>
          <a:p>
            <a:pPr algn="l">
              <a:lnSpc>
                <a:spcPct val="115000"/>
              </a:lnSpc>
              <a:spcAft>
                <a:spcPts val="0"/>
              </a:spcAft>
            </a:pPr>
            <a:r>
              <a:rPr sz="1600" b="0">
                <a:solidFill>
                  <a:srgbClr val="3A362F"/>
                </a:solidFill>
                <a:latin typeface="Segoe UI"/>
              </a:rPr>
              <a:t>GPU leases and model inference. Trust from stake, heartbeats and slashing.</a:t>
            </a:r>
          </a:p>
        </p:txBody>
      </p:sp>
      <p:sp>
        <p:nvSpPr>
          <p:cNvPr id="8" name="Rounded Rectangle 7"/>
          <p:cNvSpPr/>
          <p:nvPr/>
        </p:nvSpPr>
        <p:spPr>
          <a:xfrm>
            <a:off x="7875728" y="3931920"/>
            <a:ext cx="3749039" cy="2377440"/>
          </a:xfrm>
          <a:prstGeom prst="roundRect">
            <a:avLst>
              <a:gd name="adj" fmla="val 3500"/>
            </a:avLst>
          </a:prstGeom>
          <a:solidFill>
            <a:srgbClr val="FBFAF7"/>
          </a:solidFill>
          <a:ln w="12700">
            <a:solidFill>
              <a:srgbClr val="E6E2D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13472" y="4151376"/>
            <a:ext cx="3273551" cy="2011680"/>
          </a:xfrm>
          <a:prstGeom prst="rect">
            <a:avLst/>
          </a:prstGeom>
          <a:noFill/>
        </p:spPr>
        <p:txBody>
          <a:bodyPr wrap="square" lIns="0" rIns="0" tIns="0" bIns="0" anchor="t">
            <a:spAutoFit/>
          </a:bodyPr>
          <a:lstStyle/>
          <a:p>
            <a:pPr algn="l">
              <a:lnSpc>
                <a:spcPct val="115000"/>
              </a:lnSpc>
              <a:spcAft>
                <a:spcPts val="400"/>
              </a:spcAft>
            </a:pPr>
            <a:r>
              <a:rPr sz="1800" b="1">
                <a:solidFill>
                  <a:srgbClr val="1A1814"/>
                </a:solidFill>
                <a:latin typeface="Segoe UI"/>
              </a:rPr>
              <a:t>Verifiable task</a:t>
            </a:r>
          </a:p>
          <a:p>
            <a:pPr algn="l">
              <a:lnSpc>
                <a:spcPct val="115000"/>
              </a:lnSpc>
              <a:spcAft>
                <a:spcPts val="0"/>
              </a:spcAft>
            </a:pPr>
            <a:r>
              <a:rPr sz="1600" b="0">
                <a:solidFill>
                  <a:srgbClr val="3A362F"/>
                </a:solidFill>
                <a:latin typeface="Segoe UI"/>
              </a:rPr>
              <a:t>Jobs with checkable output. Trust from randomized re-execution.</a:t>
            </a:r>
          </a:p>
        </p:txBody>
      </p:sp>
      <p:sp>
        <p:nvSpPr>
          <p:cNvPr id="10" name="TextBox 9"/>
          <p:cNvSpPr txBox="1"/>
          <p:nvPr/>
        </p:nvSpPr>
        <p:spPr>
          <a:xfrm>
            <a:off x="566928" y="6382512"/>
            <a:ext cx="10051999" cy="274320"/>
          </a:xfrm>
          <a:prstGeom prst="rect">
            <a:avLst/>
          </a:prstGeom>
          <a:noFill/>
        </p:spPr>
        <p:txBody>
          <a:bodyPr wrap="square" lIns="0" rIns="0" tIns="0" bIns="0" anchor="t">
            <a:spAutoFit/>
          </a:bodyPr>
          <a:lstStyle/>
          <a:p>
            <a:pPr algn="l">
              <a:lnSpc>
                <a:spcPct val="115000"/>
              </a:lnSpc>
              <a:spcAft>
                <a:spcPts val="0"/>
              </a:spcAft>
            </a:pPr>
            <a:r>
              <a:rPr sz="1000" b="0">
                <a:solidFill>
                  <a:srgbClr val="6F6A60"/>
                </a:solidFill>
                <a:latin typeface="Segoe UI"/>
              </a:rPr>
              <a:t>ShaderMesh</a:t>
            </a:r>
          </a:p>
        </p:txBody>
      </p:sp>
      <p:sp>
        <p:nvSpPr>
          <p:cNvPr id="11" name="TextBox 10"/>
          <p:cNvSpPr txBox="1"/>
          <p:nvPr/>
        </p:nvSpPr>
        <p:spPr>
          <a:xfrm>
            <a:off x="10801807" y="6382512"/>
            <a:ext cx="822960" cy="274320"/>
          </a:xfrm>
          <a:prstGeom prst="rect">
            <a:avLst/>
          </a:prstGeom>
          <a:noFill/>
        </p:spPr>
        <p:txBody>
          <a:bodyPr wrap="square" lIns="0" rIns="0" tIns="0" bIns="0" anchor="t">
            <a:spAutoFit/>
          </a:bodyPr>
          <a:lstStyle/>
          <a:p>
            <a:pPr algn="r">
              <a:lnSpc>
                <a:spcPct val="115000"/>
              </a:lnSpc>
              <a:spcAft>
                <a:spcPts val="0"/>
              </a:spcAft>
            </a:pPr>
            <a:r>
              <a:rPr sz="1000" b="1">
                <a:solidFill>
                  <a:srgbClr val="6F6A60"/>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02336"/>
            <a:ext cx="822960" cy="3175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548640"/>
            <a:ext cx="11057839" cy="822960"/>
          </a:xfrm>
          <a:prstGeom prst="rect">
            <a:avLst/>
          </a:prstGeom>
          <a:noFill/>
        </p:spPr>
        <p:txBody>
          <a:bodyPr wrap="square" lIns="0" rIns="0" tIns="0" bIns="0" anchor="t">
            <a:spAutoFit/>
          </a:bodyPr>
          <a:lstStyle/>
          <a:p>
            <a:pPr algn="l">
              <a:lnSpc>
                <a:spcPct val="115000"/>
              </a:lnSpc>
              <a:spcAft>
                <a:spcPts val="400"/>
              </a:spcAft>
            </a:pPr>
            <a:r>
              <a:rPr sz="3000" b="1">
                <a:solidFill>
                  <a:srgbClr val="1A1814"/>
                </a:solidFill>
                <a:latin typeface="Segoe UI"/>
              </a:rPr>
              <a:t>Architecture</a:t>
            </a:r>
          </a:p>
          <a:p>
            <a:pPr algn="l">
              <a:lnSpc>
                <a:spcPct val="115000"/>
              </a:lnSpc>
              <a:spcAft>
                <a:spcPts val="0"/>
              </a:spcAft>
            </a:pPr>
            <a:r>
              <a:rPr sz="1350" b="0">
                <a:solidFill>
                  <a:srgbClr val="5E5950"/>
                </a:solidFill>
                <a:latin typeface="Segoe UI"/>
              </a:rPr>
              <a:t>Four off-chain components, one on-chain authority.</a:t>
            </a:r>
          </a:p>
        </p:txBody>
      </p:sp>
      <p:pic>
        <p:nvPicPr>
          <p:cNvPr id="5" name="Picture 4" descr="architecture.png"/>
          <p:cNvPicPr>
            <a:picLocks noChangeAspect="1"/>
          </p:cNvPicPr>
          <p:nvPr/>
        </p:nvPicPr>
        <p:blipFill>
          <a:blip r:embed="rId2"/>
          <a:stretch>
            <a:fillRect/>
          </a:stretch>
        </p:blipFill>
        <p:spPr>
          <a:xfrm>
            <a:off x="785252" y="1325880"/>
            <a:ext cx="7237911" cy="4983480"/>
          </a:xfrm>
          <a:prstGeom prst="rect">
            <a:avLst/>
          </a:prstGeom>
        </p:spPr>
      </p:pic>
      <p:sp>
        <p:nvSpPr>
          <p:cNvPr id="6" name="Rounded Rectangle 5"/>
          <p:cNvSpPr/>
          <p:nvPr/>
        </p:nvSpPr>
        <p:spPr>
          <a:xfrm>
            <a:off x="8515807" y="1325880"/>
            <a:ext cx="3108960" cy="4983480"/>
          </a:xfrm>
          <a:prstGeom prst="roundRect">
            <a:avLst>
              <a:gd name="adj" fmla="val 3500"/>
            </a:avLst>
          </a:prstGeom>
          <a:solidFill>
            <a:srgbClr val="FBFAF7"/>
          </a:solidFill>
          <a:ln w="12700">
            <a:solidFill>
              <a:srgbClr val="E6E2D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753551" y="1545336"/>
            <a:ext cx="2633472" cy="4617720"/>
          </a:xfrm>
          <a:prstGeom prst="rect">
            <a:avLst/>
          </a:prstGeom>
          <a:noFill/>
        </p:spPr>
        <p:txBody>
          <a:bodyPr wrap="square" lIns="0" rIns="0" tIns="0" bIns="0" anchor="t">
            <a:spAutoFit/>
          </a:bodyPr>
          <a:lstStyle/>
          <a:p>
            <a:pPr algn="l">
              <a:lnSpc>
                <a:spcPct val="115000"/>
              </a:lnSpc>
              <a:spcAft>
                <a:spcPts val="300"/>
              </a:spcAft>
            </a:pPr>
            <a:r>
              <a:rPr sz="1700" b="1">
                <a:solidFill>
                  <a:srgbClr val="1A1814"/>
                </a:solidFill>
                <a:latin typeface="Segoe UI"/>
              </a:rPr>
              <a:t>Contracts</a:t>
            </a:r>
          </a:p>
          <a:p>
            <a:pPr algn="l">
              <a:lnSpc>
                <a:spcPct val="115000"/>
              </a:lnSpc>
              <a:spcAft>
                <a:spcPts val="1400"/>
              </a:spcAft>
            </a:pPr>
            <a:r>
              <a:rPr sz="1500" b="0">
                <a:solidFill>
                  <a:srgbClr val="5E5950"/>
                </a:solidFill>
                <a:latin typeface="Segoe UI"/>
              </a:rPr>
              <a:t>Escrow, stake, slashing.</a:t>
            </a:r>
          </a:p>
          <a:p>
            <a:pPr algn="l">
              <a:lnSpc>
                <a:spcPct val="115000"/>
              </a:lnSpc>
              <a:spcAft>
                <a:spcPts val="300"/>
              </a:spcAft>
            </a:pPr>
            <a:r>
              <a:rPr sz="1700" b="1">
                <a:solidFill>
                  <a:srgbClr val="1A1814"/>
                </a:solidFill>
                <a:latin typeface="Segoe UI"/>
              </a:rPr>
              <a:t>Agent and orchestrator</a:t>
            </a:r>
          </a:p>
          <a:p>
            <a:pPr algn="l">
              <a:lnSpc>
                <a:spcPct val="115000"/>
              </a:lnSpc>
              <a:spcAft>
                <a:spcPts val="1400"/>
              </a:spcAft>
            </a:pPr>
            <a:r>
              <a:rPr sz="1500" b="0">
                <a:solidFill>
                  <a:srgbClr val="5E5950"/>
                </a:solidFill>
                <a:latin typeface="Segoe UI"/>
              </a:rPr>
              <a:t>Serve and index. Untrusted.</a:t>
            </a:r>
          </a:p>
          <a:p>
            <a:pPr algn="l">
              <a:lnSpc>
                <a:spcPct val="115000"/>
              </a:lnSpc>
              <a:spcAft>
                <a:spcPts val="300"/>
              </a:spcAft>
            </a:pPr>
            <a:r>
              <a:rPr sz="1700" b="1">
                <a:solidFill>
                  <a:srgbClr val="1A1814"/>
                </a:solidFill>
                <a:latin typeface="Segoe UI"/>
              </a:rPr>
              <a:t>Web</a:t>
            </a:r>
          </a:p>
          <a:p>
            <a:pPr algn="l">
              <a:lnSpc>
                <a:spcPct val="115000"/>
              </a:lnSpc>
              <a:spcAft>
                <a:spcPts val="1400"/>
              </a:spcAft>
            </a:pPr>
            <a:r>
              <a:rPr sz="1500" b="0">
                <a:solidFill>
                  <a:srgbClr val="5E5950"/>
                </a:solidFill>
                <a:latin typeface="Segoe UI"/>
              </a:rPr>
              <a:t>Console and explorer.</a:t>
            </a:r>
          </a:p>
        </p:txBody>
      </p:sp>
      <p:sp>
        <p:nvSpPr>
          <p:cNvPr id="8" name="TextBox 7"/>
          <p:cNvSpPr txBox="1"/>
          <p:nvPr/>
        </p:nvSpPr>
        <p:spPr>
          <a:xfrm>
            <a:off x="566928" y="6382512"/>
            <a:ext cx="10051999" cy="274320"/>
          </a:xfrm>
          <a:prstGeom prst="rect">
            <a:avLst/>
          </a:prstGeom>
          <a:noFill/>
        </p:spPr>
        <p:txBody>
          <a:bodyPr wrap="square" lIns="0" rIns="0" tIns="0" bIns="0" anchor="t">
            <a:spAutoFit/>
          </a:bodyPr>
          <a:lstStyle/>
          <a:p>
            <a:pPr algn="l">
              <a:lnSpc>
                <a:spcPct val="115000"/>
              </a:lnSpc>
              <a:spcAft>
                <a:spcPts val="0"/>
              </a:spcAft>
            </a:pPr>
            <a:r>
              <a:rPr sz="1000" b="0">
                <a:solidFill>
                  <a:srgbClr val="6F6A60"/>
                </a:solidFill>
                <a:latin typeface="Segoe UI"/>
              </a:rPr>
              <a:t>ShaderMesh</a:t>
            </a:r>
          </a:p>
        </p:txBody>
      </p:sp>
      <p:sp>
        <p:nvSpPr>
          <p:cNvPr id="9" name="TextBox 8"/>
          <p:cNvSpPr txBox="1"/>
          <p:nvPr/>
        </p:nvSpPr>
        <p:spPr>
          <a:xfrm>
            <a:off x="10801807" y="6382512"/>
            <a:ext cx="822960" cy="274320"/>
          </a:xfrm>
          <a:prstGeom prst="rect">
            <a:avLst/>
          </a:prstGeom>
          <a:noFill/>
        </p:spPr>
        <p:txBody>
          <a:bodyPr wrap="square" lIns="0" rIns="0" tIns="0" bIns="0" anchor="t">
            <a:spAutoFit/>
          </a:bodyPr>
          <a:lstStyle/>
          <a:p>
            <a:pPr algn="r">
              <a:lnSpc>
                <a:spcPct val="115000"/>
              </a:lnSpc>
              <a:spcAft>
                <a:spcPts val="0"/>
              </a:spcAft>
            </a:pPr>
            <a:r>
              <a:rPr sz="1000" b="1">
                <a:solidFill>
                  <a:srgbClr val="6F6A60"/>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02336"/>
            <a:ext cx="822960" cy="3175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548640"/>
            <a:ext cx="11057839" cy="822960"/>
          </a:xfrm>
          <a:prstGeom prst="rect">
            <a:avLst/>
          </a:prstGeom>
          <a:noFill/>
        </p:spPr>
        <p:txBody>
          <a:bodyPr wrap="square" lIns="0" rIns="0" tIns="0" bIns="0" anchor="t">
            <a:spAutoFit/>
          </a:bodyPr>
          <a:lstStyle/>
          <a:p>
            <a:pPr algn="l">
              <a:lnSpc>
                <a:spcPct val="115000"/>
              </a:lnSpc>
              <a:spcAft>
                <a:spcPts val="400"/>
              </a:spcAft>
            </a:pPr>
            <a:r>
              <a:rPr sz="3000" b="1">
                <a:solidFill>
                  <a:srgbClr val="1A1814"/>
                </a:solidFill>
                <a:latin typeface="Segoe UI"/>
              </a:rPr>
              <a:t>Trust boundary</a:t>
            </a:r>
          </a:p>
          <a:p>
            <a:pPr algn="l">
              <a:lnSpc>
                <a:spcPct val="115000"/>
              </a:lnSpc>
              <a:spcAft>
                <a:spcPts val="0"/>
              </a:spcAft>
            </a:pPr>
            <a:r>
              <a:rPr sz="1350" b="0">
                <a:solidFill>
                  <a:srgbClr val="5E5950"/>
                </a:solidFill>
                <a:latin typeface="Segoe UI"/>
              </a:rPr>
              <a:t>Contracts move funds. Off-chain parts cannot hold funds or forge settlement.</a:t>
            </a:r>
          </a:p>
        </p:txBody>
      </p:sp>
      <p:pic>
        <p:nvPicPr>
          <p:cNvPr id="5" name="Picture 4" descr="trust-boundary.png"/>
          <p:cNvPicPr>
            <a:picLocks noChangeAspect="1"/>
          </p:cNvPicPr>
          <p:nvPr/>
        </p:nvPicPr>
        <p:blipFill>
          <a:blip r:embed="rId2"/>
          <a:stretch>
            <a:fillRect/>
          </a:stretch>
        </p:blipFill>
        <p:spPr>
          <a:xfrm>
            <a:off x="1745916" y="1325880"/>
            <a:ext cx="8699862" cy="5074920"/>
          </a:xfrm>
          <a:prstGeom prst="rect">
            <a:avLst/>
          </a:prstGeom>
        </p:spPr>
      </p:pic>
      <p:sp>
        <p:nvSpPr>
          <p:cNvPr id="6" name="TextBox 5"/>
          <p:cNvSpPr txBox="1"/>
          <p:nvPr/>
        </p:nvSpPr>
        <p:spPr>
          <a:xfrm>
            <a:off x="566928" y="6382512"/>
            <a:ext cx="10051999" cy="274320"/>
          </a:xfrm>
          <a:prstGeom prst="rect">
            <a:avLst/>
          </a:prstGeom>
          <a:noFill/>
        </p:spPr>
        <p:txBody>
          <a:bodyPr wrap="square" lIns="0" rIns="0" tIns="0" bIns="0" anchor="t">
            <a:spAutoFit/>
          </a:bodyPr>
          <a:lstStyle/>
          <a:p>
            <a:pPr algn="l">
              <a:lnSpc>
                <a:spcPct val="115000"/>
              </a:lnSpc>
              <a:spcAft>
                <a:spcPts val="0"/>
              </a:spcAft>
            </a:pPr>
            <a:r>
              <a:rPr sz="1000" b="0">
                <a:solidFill>
                  <a:srgbClr val="6F6A60"/>
                </a:solidFill>
                <a:latin typeface="Segoe UI"/>
              </a:rPr>
              <a:t>ShaderMesh</a:t>
            </a:r>
          </a:p>
        </p:txBody>
      </p:sp>
      <p:sp>
        <p:nvSpPr>
          <p:cNvPr id="7" name="TextBox 6"/>
          <p:cNvSpPr txBox="1"/>
          <p:nvPr/>
        </p:nvSpPr>
        <p:spPr>
          <a:xfrm>
            <a:off x="10801807" y="6382512"/>
            <a:ext cx="822960" cy="274320"/>
          </a:xfrm>
          <a:prstGeom prst="rect">
            <a:avLst/>
          </a:prstGeom>
          <a:noFill/>
        </p:spPr>
        <p:txBody>
          <a:bodyPr wrap="square" lIns="0" rIns="0" tIns="0" bIns="0" anchor="t">
            <a:spAutoFit/>
          </a:bodyPr>
          <a:lstStyle/>
          <a:p>
            <a:pPr algn="r">
              <a:lnSpc>
                <a:spcPct val="115000"/>
              </a:lnSpc>
              <a:spcAft>
                <a:spcPts val="0"/>
              </a:spcAft>
            </a:pPr>
            <a:r>
              <a:rPr sz="1000" b="1">
                <a:solidFill>
                  <a:srgbClr val="6F6A60"/>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02336"/>
            <a:ext cx="822960" cy="3175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548640"/>
            <a:ext cx="11057839" cy="822960"/>
          </a:xfrm>
          <a:prstGeom prst="rect">
            <a:avLst/>
          </a:prstGeom>
          <a:noFill/>
        </p:spPr>
        <p:txBody>
          <a:bodyPr wrap="square" lIns="0" rIns="0" tIns="0" bIns="0" anchor="t">
            <a:spAutoFit/>
          </a:bodyPr>
          <a:lstStyle/>
          <a:p>
            <a:pPr algn="l">
              <a:lnSpc>
                <a:spcPct val="115000"/>
              </a:lnSpc>
              <a:spcAft>
                <a:spcPts val="400"/>
              </a:spcAft>
            </a:pPr>
            <a:r>
              <a:rPr sz="3000" b="1">
                <a:solidFill>
                  <a:srgbClr val="1A1814"/>
                </a:solidFill>
                <a:latin typeface="Segoe UI"/>
              </a:rPr>
              <a:t>Rental lifecycle</a:t>
            </a:r>
          </a:p>
          <a:p>
            <a:pPr algn="l">
              <a:lnSpc>
                <a:spcPct val="115000"/>
              </a:lnSpc>
              <a:spcAft>
                <a:spcPts val="0"/>
              </a:spcAft>
            </a:pPr>
            <a:r>
              <a:rPr sz="1350" b="0">
                <a:solidFill>
                  <a:srgbClr val="5E5950"/>
                </a:solidFill>
                <a:latin typeface="Segoe UI"/>
              </a:rPr>
              <a:t>Escrow streams to the provider one interval at a time.</a:t>
            </a:r>
          </a:p>
        </p:txBody>
      </p:sp>
      <p:pic>
        <p:nvPicPr>
          <p:cNvPr id="5" name="Picture 4" descr="lease-state-machine.png"/>
          <p:cNvPicPr>
            <a:picLocks noChangeAspect="1"/>
          </p:cNvPicPr>
          <p:nvPr/>
        </p:nvPicPr>
        <p:blipFill>
          <a:blip r:embed="rId2"/>
          <a:stretch>
            <a:fillRect/>
          </a:stretch>
        </p:blipFill>
        <p:spPr>
          <a:xfrm>
            <a:off x="566928" y="1867527"/>
            <a:ext cx="7674559" cy="3900185"/>
          </a:xfrm>
          <a:prstGeom prst="rect">
            <a:avLst/>
          </a:prstGeom>
        </p:spPr>
      </p:pic>
      <p:sp>
        <p:nvSpPr>
          <p:cNvPr id="6" name="Rounded Rectangle 5"/>
          <p:cNvSpPr/>
          <p:nvPr/>
        </p:nvSpPr>
        <p:spPr>
          <a:xfrm>
            <a:off x="8515807" y="1325880"/>
            <a:ext cx="3108960" cy="4983480"/>
          </a:xfrm>
          <a:prstGeom prst="roundRect">
            <a:avLst>
              <a:gd name="adj" fmla="val 3500"/>
            </a:avLst>
          </a:prstGeom>
          <a:solidFill>
            <a:srgbClr val="FBFAF7"/>
          </a:solidFill>
          <a:ln w="12700">
            <a:solidFill>
              <a:srgbClr val="E6E2D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753551" y="1545336"/>
            <a:ext cx="2633472" cy="4617720"/>
          </a:xfrm>
          <a:prstGeom prst="rect">
            <a:avLst/>
          </a:prstGeom>
          <a:noFill/>
        </p:spPr>
        <p:txBody>
          <a:bodyPr wrap="square" lIns="0" rIns="0" tIns="0" bIns="0" anchor="t">
            <a:spAutoFit/>
          </a:bodyPr>
          <a:lstStyle/>
          <a:p>
            <a:pPr algn="l">
              <a:lnSpc>
                <a:spcPct val="115000"/>
              </a:lnSpc>
              <a:spcAft>
                <a:spcPts val="300"/>
              </a:spcAft>
            </a:pPr>
            <a:r>
              <a:rPr sz="1700" b="1">
                <a:solidFill>
                  <a:srgbClr val="1A1814"/>
                </a:solidFill>
                <a:latin typeface="Segoe UI"/>
              </a:rPr>
              <a:t>Proven prefix</a:t>
            </a:r>
          </a:p>
          <a:p>
            <a:pPr algn="l">
              <a:lnSpc>
                <a:spcPct val="115000"/>
              </a:lnSpc>
              <a:spcAft>
                <a:spcPts val="1400"/>
              </a:spcAft>
            </a:pPr>
            <a:r>
              <a:rPr sz="1500" b="0">
                <a:solidFill>
                  <a:srgbClr val="5E5950"/>
                </a:solidFill>
                <a:latin typeface="Segoe UI"/>
              </a:rPr>
              <a:t>Escrow releases only for contiguous proven intervals.</a:t>
            </a:r>
          </a:p>
          <a:p>
            <a:pPr algn="l">
              <a:lnSpc>
                <a:spcPct val="115000"/>
              </a:lnSpc>
              <a:spcAft>
                <a:spcPts val="300"/>
              </a:spcAft>
            </a:pPr>
            <a:r>
              <a:rPr sz="1700" b="1">
                <a:solidFill>
                  <a:srgbClr val="1A1814"/>
                </a:solidFill>
                <a:latin typeface="Segoe UI"/>
              </a:rPr>
              <a:t>Downtime</a:t>
            </a:r>
          </a:p>
          <a:p>
            <a:pPr algn="l">
              <a:lnSpc>
                <a:spcPct val="115000"/>
              </a:lnSpc>
              <a:spcAft>
                <a:spcPts val="1400"/>
              </a:spcAft>
            </a:pPr>
            <a:r>
              <a:rPr sz="1500" b="0">
                <a:solidFill>
                  <a:srgbClr val="5E5950"/>
                </a:solidFill>
                <a:latin typeface="Segoe UI"/>
              </a:rPr>
              <a:t>The remainder is refunded and the bond is slashed.</a:t>
            </a:r>
          </a:p>
        </p:txBody>
      </p:sp>
      <p:sp>
        <p:nvSpPr>
          <p:cNvPr id="8" name="TextBox 7"/>
          <p:cNvSpPr txBox="1"/>
          <p:nvPr/>
        </p:nvSpPr>
        <p:spPr>
          <a:xfrm>
            <a:off x="566928" y="6382512"/>
            <a:ext cx="10051999" cy="274320"/>
          </a:xfrm>
          <a:prstGeom prst="rect">
            <a:avLst/>
          </a:prstGeom>
          <a:noFill/>
        </p:spPr>
        <p:txBody>
          <a:bodyPr wrap="square" lIns="0" rIns="0" tIns="0" bIns="0" anchor="t">
            <a:spAutoFit/>
          </a:bodyPr>
          <a:lstStyle/>
          <a:p>
            <a:pPr algn="l">
              <a:lnSpc>
                <a:spcPct val="115000"/>
              </a:lnSpc>
              <a:spcAft>
                <a:spcPts val="0"/>
              </a:spcAft>
            </a:pPr>
            <a:r>
              <a:rPr sz="1000" b="0">
                <a:solidFill>
                  <a:srgbClr val="6F6A60"/>
                </a:solidFill>
                <a:latin typeface="Segoe UI"/>
              </a:rPr>
              <a:t>ShaderMesh</a:t>
            </a:r>
          </a:p>
        </p:txBody>
      </p:sp>
      <p:sp>
        <p:nvSpPr>
          <p:cNvPr id="9" name="TextBox 8"/>
          <p:cNvSpPr txBox="1"/>
          <p:nvPr/>
        </p:nvSpPr>
        <p:spPr>
          <a:xfrm>
            <a:off x="10801807" y="6382512"/>
            <a:ext cx="822960" cy="274320"/>
          </a:xfrm>
          <a:prstGeom prst="rect">
            <a:avLst/>
          </a:prstGeom>
          <a:noFill/>
        </p:spPr>
        <p:txBody>
          <a:bodyPr wrap="square" lIns="0" rIns="0" tIns="0" bIns="0" anchor="t">
            <a:spAutoFit/>
          </a:bodyPr>
          <a:lstStyle/>
          <a:p>
            <a:pPr algn="r">
              <a:lnSpc>
                <a:spcPct val="115000"/>
              </a:lnSpc>
              <a:spcAft>
                <a:spcPts val="0"/>
              </a:spcAft>
            </a:pPr>
            <a:r>
              <a:rPr sz="1000" b="1">
                <a:solidFill>
                  <a:srgbClr val="6F6A60"/>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02336"/>
            <a:ext cx="822960" cy="3175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548640"/>
            <a:ext cx="11057839" cy="822960"/>
          </a:xfrm>
          <a:prstGeom prst="rect">
            <a:avLst/>
          </a:prstGeom>
          <a:noFill/>
        </p:spPr>
        <p:txBody>
          <a:bodyPr wrap="square" lIns="0" rIns="0" tIns="0" bIns="0" anchor="t">
            <a:spAutoFit/>
          </a:bodyPr>
          <a:lstStyle/>
          <a:p>
            <a:pPr algn="l">
              <a:lnSpc>
                <a:spcPct val="115000"/>
              </a:lnSpc>
              <a:spcAft>
                <a:spcPts val="400"/>
              </a:spcAft>
            </a:pPr>
            <a:r>
              <a:rPr sz="3000" b="1">
                <a:solidFill>
                  <a:srgbClr val="1A1814"/>
                </a:solidFill>
                <a:latin typeface="Segoe UI"/>
              </a:rPr>
              <a:t>Benchmark challenges</a:t>
            </a:r>
          </a:p>
          <a:p>
            <a:pPr algn="l">
              <a:lnSpc>
                <a:spcPct val="115000"/>
              </a:lnSpc>
              <a:spcAft>
                <a:spcPts val="0"/>
              </a:spcAft>
            </a:pPr>
            <a:r>
              <a:rPr sz="1350" b="0">
                <a:solidFill>
                  <a:srgbClr val="5E5950"/>
                </a:solidFill>
                <a:latin typeface="Segoe UI"/>
              </a:rPr>
              <a:t>Output speed is checked against a seeded hash chain.</a:t>
            </a:r>
          </a:p>
        </p:txBody>
      </p:sp>
      <p:pic>
        <p:nvPicPr>
          <p:cNvPr id="5" name="Picture 4" descr="challenge-state-machine.png"/>
          <p:cNvPicPr>
            <a:picLocks noChangeAspect="1"/>
          </p:cNvPicPr>
          <p:nvPr/>
        </p:nvPicPr>
        <p:blipFill>
          <a:blip r:embed="rId2"/>
          <a:stretch>
            <a:fillRect/>
          </a:stretch>
        </p:blipFill>
        <p:spPr>
          <a:xfrm>
            <a:off x="2346808" y="1325880"/>
            <a:ext cx="7498079" cy="3657600"/>
          </a:xfrm>
          <a:prstGeom prst="rect">
            <a:avLst/>
          </a:prstGeom>
        </p:spPr>
      </p:pic>
      <p:sp>
        <p:nvSpPr>
          <p:cNvPr id="6" name="Rounded Rectangle 5"/>
          <p:cNvSpPr/>
          <p:nvPr/>
        </p:nvSpPr>
        <p:spPr>
          <a:xfrm>
            <a:off x="566928" y="5166360"/>
            <a:ext cx="2593009" cy="1143000"/>
          </a:xfrm>
          <a:prstGeom prst="roundRect">
            <a:avLst>
              <a:gd name="adj" fmla="val 3500"/>
            </a:avLst>
          </a:prstGeom>
          <a:solidFill>
            <a:srgbClr val="FBFAF7"/>
          </a:solidFill>
          <a:ln w="12700">
            <a:solidFill>
              <a:srgbClr val="E6E2D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49808" y="5330952"/>
            <a:ext cx="2227249" cy="868680"/>
          </a:xfrm>
          <a:prstGeom prst="rect">
            <a:avLst/>
          </a:prstGeom>
          <a:noFill/>
        </p:spPr>
        <p:txBody>
          <a:bodyPr wrap="square" lIns="0" rIns="0" tIns="0" bIns="0" anchor="t">
            <a:spAutoFit/>
          </a:bodyPr>
          <a:lstStyle/>
          <a:p>
            <a:pPr algn="l">
              <a:lnSpc>
                <a:spcPct val="115000"/>
              </a:lnSpc>
              <a:spcAft>
                <a:spcPts val="300"/>
              </a:spcAft>
            </a:pPr>
            <a:r>
              <a:rPr sz="1500" b="1">
                <a:solidFill>
                  <a:srgbClr val="1A1814"/>
                </a:solidFill>
                <a:latin typeface="Segoe UI"/>
              </a:rPr>
              <a:t>Seeded hash chain</a:t>
            </a:r>
          </a:p>
          <a:p>
            <a:pPr algn="l">
              <a:lnSpc>
                <a:spcPct val="115000"/>
              </a:lnSpc>
              <a:spcAft>
                <a:spcPts val="0"/>
              </a:spcAft>
            </a:pPr>
            <a:r>
              <a:rPr sz="1350" b="0">
                <a:solidFill>
                  <a:srgbClr val="5E5950"/>
                </a:solidFill>
                <a:latin typeface="Segoe UI"/>
              </a:rPr>
              <a:t>Work cannot be precomputed.</a:t>
            </a:r>
          </a:p>
        </p:txBody>
      </p:sp>
      <p:sp>
        <p:nvSpPr>
          <p:cNvPr id="8" name="Rounded Rectangle 7"/>
          <p:cNvSpPr/>
          <p:nvPr/>
        </p:nvSpPr>
        <p:spPr>
          <a:xfrm>
            <a:off x="3388537" y="5166360"/>
            <a:ext cx="2593009" cy="1143000"/>
          </a:xfrm>
          <a:prstGeom prst="roundRect">
            <a:avLst>
              <a:gd name="adj" fmla="val 3500"/>
            </a:avLst>
          </a:prstGeom>
          <a:solidFill>
            <a:srgbClr val="FBFAF7"/>
          </a:solidFill>
          <a:ln w="12700">
            <a:solidFill>
              <a:srgbClr val="E6E2D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571417" y="5330952"/>
            <a:ext cx="2227249" cy="868680"/>
          </a:xfrm>
          <a:prstGeom prst="rect">
            <a:avLst/>
          </a:prstGeom>
          <a:noFill/>
        </p:spPr>
        <p:txBody>
          <a:bodyPr wrap="square" lIns="0" rIns="0" tIns="0" bIns="0" anchor="t">
            <a:spAutoFit/>
          </a:bodyPr>
          <a:lstStyle/>
          <a:p>
            <a:pPr algn="l">
              <a:lnSpc>
                <a:spcPct val="115000"/>
              </a:lnSpc>
              <a:spcAft>
                <a:spcPts val="300"/>
              </a:spcAft>
            </a:pPr>
            <a:r>
              <a:rPr sz="1500" b="1">
                <a:solidFill>
                  <a:srgbClr val="1A1814"/>
                </a:solidFill>
                <a:latin typeface="Segoe UI"/>
              </a:rPr>
              <a:t>Failure</a:t>
            </a:r>
          </a:p>
          <a:p>
            <a:pPr algn="l">
              <a:lnSpc>
                <a:spcPct val="115000"/>
              </a:lnSpc>
              <a:spcAft>
                <a:spcPts val="0"/>
              </a:spcAft>
            </a:pPr>
            <a:r>
              <a:rPr sz="1350" b="0">
                <a:solidFill>
                  <a:srgbClr val="5E5950"/>
                </a:solidFill>
                <a:latin typeface="Segoe UI"/>
              </a:rPr>
              <a:t>Free stake is slashed to the treasury.</a:t>
            </a:r>
          </a:p>
        </p:txBody>
      </p:sp>
      <p:sp>
        <p:nvSpPr>
          <p:cNvPr id="10" name="Rounded Rectangle 9"/>
          <p:cNvSpPr/>
          <p:nvPr/>
        </p:nvSpPr>
        <p:spPr>
          <a:xfrm>
            <a:off x="6210147" y="5166360"/>
            <a:ext cx="2593009" cy="1143000"/>
          </a:xfrm>
          <a:prstGeom prst="roundRect">
            <a:avLst>
              <a:gd name="adj" fmla="val 3500"/>
            </a:avLst>
          </a:prstGeom>
          <a:solidFill>
            <a:srgbClr val="FBFAF7"/>
          </a:solidFill>
          <a:ln w="12700">
            <a:solidFill>
              <a:srgbClr val="E6E2D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393027" y="5330952"/>
            <a:ext cx="2227249" cy="868680"/>
          </a:xfrm>
          <a:prstGeom prst="rect">
            <a:avLst/>
          </a:prstGeom>
          <a:noFill/>
        </p:spPr>
        <p:txBody>
          <a:bodyPr wrap="square" lIns="0" rIns="0" tIns="0" bIns="0" anchor="t">
            <a:spAutoFit/>
          </a:bodyPr>
          <a:lstStyle/>
          <a:p>
            <a:pPr algn="l">
              <a:lnSpc>
                <a:spcPct val="115000"/>
              </a:lnSpc>
              <a:spcAft>
                <a:spcPts val="300"/>
              </a:spcAft>
            </a:pPr>
            <a:r>
              <a:rPr sz="1500" b="1">
                <a:solidFill>
                  <a:srgbClr val="1A1814"/>
                </a:solidFill>
                <a:latin typeface="Segoe UI"/>
              </a:rPr>
              <a:t>Expiry</a:t>
            </a:r>
          </a:p>
          <a:p>
            <a:pPr algn="l">
              <a:lnSpc>
                <a:spcPct val="115000"/>
              </a:lnSpc>
              <a:spcAft>
                <a:spcPts val="0"/>
              </a:spcAft>
            </a:pPr>
            <a:r>
              <a:rPr sz="1350" b="0">
                <a:solidFill>
                  <a:srgbClr val="5E5950"/>
                </a:solidFill>
                <a:latin typeface="Segoe UI"/>
              </a:rPr>
              <a:t>Anyone can expire a stale challenge.</a:t>
            </a:r>
          </a:p>
        </p:txBody>
      </p:sp>
      <p:sp>
        <p:nvSpPr>
          <p:cNvPr id="12" name="Rounded Rectangle 11"/>
          <p:cNvSpPr/>
          <p:nvPr/>
        </p:nvSpPr>
        <p:spPr>
          <a:xfrm>
            <a:off x="9031757" y="5166360"/>
            <a:ext cx="2593009" cy="1143000"/>
          </a:xfrm>
          <a:prstGeom prst="roundRect">
            <a:avLst>
              <a:gd name="adj" fmla="val 3500"/>
            </a:avLst>
          </a:prstGeom>
          <a:solidFill>
            <a:srgbClr val="FBFAF7"/>
          </a:solidFill>
          <a:ln w="12700">
            <a:solidFill>
              <a:srgbClr val="E6E2D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214637" y="5330952"/>
            <a:ext cx="2227249" cy="868680"/>
          </a:xfrm>
          <a:prstGeom prst="rect">
            <a:avLst/>
          </a:prstGeom>
          <a:noFill/>
        </p:spPr>
        <p:txBody>
          <a:bodyPr wrap="square" lIns="0" rIns="0" tIns="0" bIns="0" anchor="t">
            <a:spAutoFit/>
          </a:bodyPr>
          <a:lstStyle/>
          <a:p>
            <a:pPr algn="l">
              <a:lnSpc>
                <a:spcPct val="115000"/>
              </a:lnSpc>
              <a:spcAft>
                <a:spcPts val="300"/>
              </a:spcAft>
            </a:pPr>
            <a:r>
              <a:rPr sz="1500" b="1">
                <a:solidFill>
                  <a:srgbClr val="1A1814"/>
                </a:solidFill>
                <a:latin typeface="Segoe UI"/>
              </a:rPr>
              <a:t>Attester</a:t>
            </a:r>
          </a:p>
          <a:p>
            <a:pPr algn="l">
              <a:lnSpc>
                <a:spcPct val="115000"/>
              </a:lnSpc>
              <a:spcAft>
                <a:spcPts val="0"/>
              </a:spcAft>
            </a:pPr>
            <a:r>
              <a:rPr sz="1350" b="0">
                <a:solidFill>
                  <a:srgbClr val="5E5950"/>
                </a:solidFill>
                <a:latin typeface="Segoe UI"/>
              </a:rPr>
              <a:t>Still trusted to judge.</a:t>
            </a:r>
          </a:p>
        </p:txBody>
      </p:sp>
      <p:sp>
        <p:nvSpPr>
          <p:cNvPr id="14" name="TextBox 13"/>
          <p:cNvSpPr txBox="1"/>
          <p:nvPr/>
        </p:nvSpPr>
        <p:spPr>
          <a:xfrm>
            <a:off x="566928" y="6382512"/>
            <a:ext cx="10051999" cy="274320"/>
          </a:xfrm>
          <a:prstGeom prst="rect">
            <a:avLst/>
          </a:prstGeom>
          <a:noFill/>
        </p:spPr>
        <p:txBody>
          <a:bodyPr wrap="square" lIns="0" rIns="0" tIns="0" bIns="0" anchor="t">
            <a:spAutoFit/>
          </a:bodyPr>
          <a:lstStyle/>
          <a:p>
            <a:pPr algn="l">
              <a:lnSpc>
                <a:spcPct val="115000"/>
              </a:lnSpc>
              <a:spcAft>
                <a:spcPts val="0"/>
              </a:spcAft>
            </a:pPr>
            <a:r>
              <a:rPr sz="1000" b="0">
                <a:solidFill>
                  <a:srgbClr val="6F6A60"/>
                </a:solidFill>
                <a:latin typeface="Segoe UI"/>
              </a:rPr>
              <a:t>ShaderMesh</a:t>
            </a:r>
          </a:p>
        </p:txBody>
      </p:sp>
      <p:sp>
        <p:nvSpPr>
          <p:cNvPr id="15" name="TextBox 14"/>
          <p:cNvSpPr txBox="1"/>
          <p:nvPr/>
        </p:nvSpPr>
        <p:spPr>
          <a:xfrm>
            <a:off x="10801807" y="6382512"/>
            <a:ext cx="822960" cy="274320"/>
          </a:xfrm>
          <a:prstGeom prst="rect">
            <a:avLst/>
          </a:prstGeom>
          <a:noFill/>
        </p:spPr>
        <p:txBody>
          <a:bodyPr wrap="square" lIns="0" rIns="0" tIns="0" bIns="0" anchor="t">
            <a:spAutoFit/>
          </a:bodyPr>
          <a:lstStyle/>
          <a:p>
            <a:pPr algn="r">
              <a:lnSpc>
                <a:spcPct val="115000"/>
              </a:lnSpc>
              <a:spcAft>
                <a:spcPts val="0"/>
              </a:spcAft>
            </a:pPr>
            <a:r>
              <a:rPr sz="1000" b="1">
                <a:solidFill>
                  <a:srgbClr val="6F6A60"/>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02336"/>
            <a:ext cx="822960" cy="3175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548640"/>
            <a:ext cx="11057839" cy="822960"/>
          </a:xfrm>
          <a:prstGeom prst="rect">
            <a:avLst/>
          </a:prstGeom>
          <a:noFill/>
        </p:spPr>
        <p:txBody>
          <a:bodyPr wrap="square" lIns="0" rIns="0" tIns="0" bIns="0" anchor="t">
            <a:spAutoFit/>
          </a:bodyPr>
          <a:lstStyle/>
          <a:p>
            <a:pPr algn="l">
              <a:lnSpc>
                <a:spcPct val="115000"/>
              </a:lnSpc>
              <a:spcAft>
                <a:spcPts val="400"/>
              </a:spcAft>
            </a:pPr>
            <a:r>
              <a:rPr sz="3000" b="1">
                <a:solidFill>
                  <a:srgbClr val="1A1814"/>
                </a:solidFill>
                <a:latin typeface="Segoe UI"/>
              </a:rPr>
              <a:t>Token flow</a:t>
            </a:r>
          </a:p>
          <a:p>
            <a:pPr algn="l">
              <a:lnSpc>
                <a:spcPct val="115000"/>
              </a:lnSpc>
              <a:spcAft>
                <a:spcPts val="0"/>
              </a:spcAft>
            </a:pPr>
            <a:r>
              <a:rPr sz="1350" b="0">
                <a:solidFill>
                  <a:srgbClr val="5E5950"/>
                </a:solidFill>
                <a:latin typeface="Segoe UI"/>
              </a:rPr>
              <a:t>Every movement of value is on chain.</a:t>
            </a:r>
          </a:p>
        </p:txBody>
      </p:sp>
      <p:pic>
        <p:nvPicPr>
          <p:cNvPr id="5" name="Picture 4" descr="token-flow.png"/>
          <p:cNvPicPr>
            <a:picLocks noChangeAspect="1"/>
          </p:cNvPicPr>
          <p:nvPr/>
        </p:nvPicPr>
        <p:blipFill>
          <a:blip r:embed="rId2"/>
          <a:stretch>
            <a:fillRect/>
          </a:stretch>
        </p:blipFill>
        <p:spPr>
          <a:xfrm>
            <a:off x="566928" y="1481885"/>
            <a:ext cx="7674559" cy="4671470"/>
          </a:xfrm>
          <a:prstGeom prst="rect">
            <a:avLst/>
          </a:prstGeom>
        </p:spPr>
      </p:pic>
      <p:sp>
        <p:nvSpPr>
          <p:cNvPr id="6" name="Rounded Rectangle 5"/>
          <p:cNvSpPr/>
          <p:nvPr/>
        </p:nvSpPr>
        <p:spPr>
          <a:xfrm>
            <a:off x="8515807" y="1325880"/>
            <a:ext cx="3108960" cy="4983480"/>
          </a:xfrm>
          <a:prstGeom prst="roundRect">
            <a:avLst>
              <a:gd name="adj" fmla="val 3500"/>
            </a:avLst>
          </a:prstGeom>
          <a:solidFill>
            <a:srgbClr val="FBFAF7"/>
          </a:solidFill>
          <a:ln w="12700">
            <a:solidFill>
              <a:srgbClr val="E6E2D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753551" y="1545336"/>
            <a:ext cx="2633472" cy="4617720"/>
          </a:xfrm>
          <a:prstGeom prst="rect">
            <a:avLst/>
          </a:prstGeom>
          <a:noFill/>
        </p:spPr>
        <p:txBody>
          <a:bodyPr wrap="square" lIns="0" rIns="0" tIns="0" bIns="0" anchor="t">
            <a:spAutoFit/>
          </a:bodyPr>
          <a:lstStyle/>
          <a:p>
            <a:pPr algn="l">
              <a:lnSpc>
                <a:spcPct val="115000"/>
              </a:lnSpc>
              <a:spcAft>
                <a:spcPts val="300"/>
              </a:spcAft>
            </a:pPr>
            <a:r>
              <a:rPr sz="1700" b="1">
                <a:solidFill>
                  <a:srgbClr val="1A1814"/>
                </a:solidFill>
                <a:latin typeface="Segoe UI"/>
              </a:rPr>
              <a:t>In</a:t>
            </a:r>
          </a:p>
          <a:p>
            <a:pPr algn="l">
              <a:lnSpc>
                <a:spcPct val="115000"/>
              </a:lnSpc>
              <a:spcAft>
                <a:spcPts val="1400"/>
              </a:spcAft>
            </a:pPr>
            <a:r>
              <a:rPr sz="1500" b="0">
                <a:solidFill>
                  <a:srgbClr val="5E5950"/>
                </a:solidFill>
                <a:latin typeface="Segoe UI"/>
              </a:rPr>
              <a:t>Requester escrow and provider stake.</a:t>
            </a:r>
          </a:p>
          <a:p>
            <a:pPr algn="l">
              <a:lnSpc>
                <a:spcPct val="115000"/>
              </a:lnSpc>
              <a:spcAft>
                <a:spcPts val="300"/>
              </a:spcAft>
            </a:pPr>
            <a:r>
              <a:rPr sz="1700" b="1">
                <a:solidFill>
                  <a:srgbClr val="1A1814"/>
                </a:solidFill>
                <a:latin typeface="Segoe UI"/>
              </a:rPr>
              <a:t>Out</a:t>
            </a:r>
          </a:p>
          <a:p>
            <a:pPr algn="l">
              <a:lnSpc>
                <a:spcPct val="115000"/>
              </a:lnSpc>
              <a:spcAft>
                <a:spcPts val="1400"/>
              </a:spcAft>
            </a:pPr>
            <a:r>
              <a:rPr sz="1500" b="0">
                <a:solidFill>
                  <a:srgbClr val="5E5950"/>
                </a:solidFill>
                <a:latin typeface="Segoe UI"/>
              </a:rPr>
              <a:t>Provider payout, refund, slash to treasury.</a:t>
            </a:r>
          </a:p>
        </p:txBody>
      </p:sp>
      <p:sp>
        <p:nvSpPr>
          <p:cNvPr id="8" name="TextBox 7"/>
          <p:cNvSpPr txBox="1"/>
          <p:nvPr/>
        </p:nvSpPr>
        <p:spPr>
          <a:xfrm>
            <a:off x="566928" y="6382512"/>
            <a:ext cx="10051999" cy="274320"/>
          </a:xfrm>
          <a:prstGeom prst="rect">
            <a:avLst/>
          </a:prstGeom>
          <a:noFill/>
        </p:spPr>
        <p:txBody>
          <a:bodyPr wrap="square" lIns="0" rIns="0" tIns="0" bIns="0" anchor="t">
            <a:spAutoFit/>
          </a:bodyPr>
          <a:lstStyle/>
          <a:p>
            <a:pPr algn="l">
              <a:lnSpc>
                <a:spcPct val="115000"/>
              </a:lnSpc>
              <a:spcAft>
                <a:spcPts val="0"/>
              </a:spcAft>
            </a:pPr>
            <a:r>
              <a:rPr sz="1000" b="0">
                <a:solidFill>
                  <a:srgbClr val="6F6A60"/>
                </a:solidFill>
                <a:latin typeface="Segoe UI"/>
              </a:rPr>
              <a:t>ShaderMesh</a:t>
            </a:r>
          </a:p>
        </p:txBody>
      </p:sp>
      <p:sp>
        <p:nvSpPr>
          <p:cNvPr id="9" name="TextBox 8"/>
          <p:cNvSpPr txBox="1"/>
          <p:nvPr/>
        </p:nvSpPr>
        <p:spPr>
          <a:xfrm>
            <a:off x="10801807" y="6382512"/>
            <a:ext cx="822960" cy="274320"/>
          </a:xfrm>
          <a:prstGeom prst="rect">
            <a:avLst/>
          </a:prstGeom>
          <a:noFill/>
        </p:spPr>
        <p:txBody>
          <a:bodyPr wrap="square" lIns="0" rIns="0" tIns="0" bIns="0" anchor="t">
            <a:spAutoFit/>
          </a:bodyPr>
          <a:lstStyle/>
          <a:p>
            <a:pPr algn="r">
              <a:lnSpc>
                <a:spcPct val="115000"/>
              </a:lnSpc>
              <a:spcAft>
                <a:spcPts val="0"/>
              </a:spcAft>
            </a:pPr>
            <a:r>
              <a:rPr sz="1000" b="1">
                <a:solidFill>
                  <a:srgbClr val="6F6A60"/>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02336"/>
            <a:ext cx="822960" cy="3175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548640"/>
            <a:ext cx="11057839" cy="822960"/>
          </a:xfrm>
          <a:prstGeom prst="rect">
            <a:avLst/>
          </a:prstGeom>
          <a:noFill/>
        </p:spPr>
        <p:txBody>
          <a:bodyPr wrap="square" lIns="0" rIns="0" tIns="0" bIns="0" anchor="t">
            <a:spAutoFit/>
          </a:bodyPr>
          <a:lstStyle/>
          <a:p>
            <a:pPr algn="l">
              <a:lnSpc>
                <a:spcPct val="115000"/>
              </a:lnSpc>
              <a:spcAft>
                <a:spcPts val="400"/>
              </a:spcAft>
            </a:pPr>
            <a:r>
              <a:rPr sz="3000" b="1">
                <a:solidFill>
                  <a:srgbClr val="1A1814"/>
                </a:solidFill>
                <a:latin typeface="Segoe UI"/>
              </a:rPr>
              <a:t>The product</a:t>
            </a:r>
          </a:p>
          <a:p>
            <a:pPr algn="l">
              <a:lnSpc>
                <a:spcPct val="115000"/>
              </a:lnSpc>
              <a:spcAft>
                <a:spcPts val="0"/>
              </a:spcAft>
            </a:pPr>
            <a:r>
              <a:rPr sz="1350" b="0">
                <a:solidFill>
                  <a:srgbClr val="5E5950"/>
                </a:solidFill>
                <a:latin typeface="Segoe UI"/>
              </a:rPr>
              <a:t>A web console and a public explorer, both reading the chain.</a:t>
            </a:r>
          </a:p>
        </p:txBody>
      </p:sp>
      <p:pic>
        <p:nvPicPr>
          <p:cNvPr id="5" name="Picture 4" descr="landing-top.png"/>
          <p:cNvPicPr>
            <a:picLocks noChangeAspect="1"/>
          </p:cNvPicPr>
          <p:nvPr/>
        </p:nvPicPr>
        <p:blipFill>
          <a:blip r:embed="rId2"/>
          <a:stretch>
            <a:fillRect/>
          </a:stretch>
        </p:blipFill>
        <p:spPr>
          <a:xfrm>
            <a:off x="566928" y="1522619"/>
            <a:ext cx="5368899" cy="3355562"/>
          </a:xfrm>
          <a:prstGeom prst="rect">
            <a:avLst/>
          </a:prstGeom>
          <a:ln w="12700">
            <a:solidFill>
              <a:srgbClr val="D3CEC4"/>
            </a:solidFill>
          </a:ln>
        </p:spPr>
      </p:pic>
      <p:sp>
        <p:nvSpPr>
          <p:cNvPr id="6" name="TextBox 5"/>
          <p:cNvSpPr txBox="1"/>
          <p:nvPr/>
        </p:nvSpPr>
        <p:spPr>
          <a:xfrm>
            <a:off x="566928" y="5015341"/>
            <a:ext cx="5368899" cy="320040"/>
          </a:xfrm>
          <a:prstGeom prst="rect">
            <a:avLst/>
          </a:prstGeom>
          <a:noFill/>
        </p:spPr>
        <p:txBody>
          <a:bodyPr wrap="square" lIns="0" rIns="0" tIns="0" bIns="0" anchor="t">
            <a:spAutoFit/>
          </a:bodyPr>
          <a:lstStyle/>
          <a:p>
            <a:pPr algn="l">
              <a:lnSpc>
                <a:spcPct val="115000"/>
              </a:lnSpc>
              <a:spcAft>
                <a:spcPts val="0"/>
              </a:spcAft>
            </a:pPr>
            <a:r>
              <a:rPr sz="1500" b="1">
                <a:solidFill>
                  <a:srgbClr val="3A362F"/>
                </a:solidFill>
                <a:latin typeface="Segoe UI"/>
              </a:rPr>
              <a:t>Landing page</a:t>
            </a:r>
          </a:p>
        </p:txBody>
      </p:sp>
      <p:pic>
        <p:nvPicPr>
          <p:cNvPr id="7" name="Picture 6" descr="explorer-challenges.png"/>
          <p:cNvPicPr>
            <a:picLocks noChangeAspect="1"/>
          </p:cNvPicPr>
          <p:nvPr/>
        </p:nvPicPr>
        <p:blipFill>
          <a:blip r:embed="rId3"/>
          <a:stretch>
            <a:fillRect/>
          </a:stretch>
        </p:blipFill>
        <p:spPr>
          <a:xfrm>
            <a:off x="6255867" y="1522619"/>
            <a:ext cx="5368899" cy="3355562"/>
          </a:xfrm>
          <a:prstGeom prst="rect">
            <a:avLst/>
          </a:prstGeom>
          <a:ln w="12700">
            <a:solidFill>
              <a:srgbClr val="D3CEC4"/>
            </a:solidFill>
          </a:ln>
        </p:spPr>
      </p:pic>
      <p:sp>
        <p:nvSpPr>
          <p:cNvPr id="8" name="TextBox 7"/>
          <p:cNvSpPr txBox="1"/>
          <p:nvPr/>
        </p:nvSpPr>
        <p:spPr>
          <a:xfrm>
            <a:off x="6255867" y="5015341"/>
            <a:ext cx="5368899" cy="320040"/>
          </a:xfrm>
          <a:prstGeom prst="rect">
            <a:avLst/>
          </a:prstGeom>
          <a:noFill/>
        </p:spPr>
        <p:txBody>
          <a:bodyPr wrap="square" lIns="0" rIns="0" tIns="0" bIns="0" anchor="t">
            <a:spAutoFit/>
          </a:bodyPr>
          <a:lstStyle/>
          <a:p>
            <a:pPr algn="l">
              <a:lnSpc>
                <a:spcPct val="115000"/>
              </a:lnSpc>
              <a:spcAft>
                <a:spcPts val="0"/>
              </a:spcAft>
            </a:pPr>
            <a:r>
              <a:rPr sz="1500" b="1">
                <a:solidFill>
                  <a:srgbClr val="3A362F"/>
                </a:solidFill>
                <a:latin typeface="Segoe UI"/>
              </a:rPr>
              <a:t>Explorer: benchmark challenges</a:t>
            </a:r>
          </a:p>
        </p:txBody>
      </p:sp>
      <p:sp>
        <p:nvSpPr>
          <p:cNvPr id="9" name="TextBox 8"/>
          <p:cNvSpPr txBox="1"/>
          <p:nvPr/>
        </p:nvSpPr>
        <p:spPr>
          <a:xfrm>
            <a:off x="566928" y="5760720"/>
            <a:ext cx="11057839" cy="365760"/>
          </a:xfrm>
          <a:prstGeom prst="rect">
            <a:avLst/>
          </a:prstGeom>
          <a:noFill/>
        </p:spPr>
        <p:txBody>
          <a:bodyPr wrap="square" lIns="0" rIns="0" tIns="0" bIns="0" anchor="t">
            <a:spAutoFit/>
          </a:bodyPr>
          <a:lstStyle/>
          <a:p>
            <a:pPr algn="l">
              <a:lnSpc>
                <a:spcPct val="115000"/>
              </a:lnSpc>
              <a:spcAft>
                <a:spcPts val="0"/>
              </a:spcAft>
            </a:pPr>
            <a:r>
              <a:rPr sz="1500" b="0">
                <a:solidFill>
                  <a:srgbClr val="5E5950"/>
                </a:solidFill>
                <a:latin typeface="Segoe UI"/>
              </a:rPr>
              <a:t>Also built: dashboard, providers, model offers, rent flow, lease and event explorer.</a:t>
            </a:r>
          </a:p>
        </p:txBody>
      </p:sp>
      <p:sp>
        <p:nvSpPr>
          <p:cNvPr id="10" name="TextBox 9"/>
          <p:cNvSpPr txBox="1"/>
          <p:nvPr/>
        </p:nvSpPr>
        <p:spPr>
          <a:xfrm>
            <a:off x="566928" y="6382512"/>
            <a:ext cx="10051999" cy="274320"/>
          </a:xfrm>
          <a:prstGeom prst="rect">
            <a:avLst/>
          </a:prstGeom>
          <a:noFill/>
        </p:spPr>
        <p:txBody>
          <a:bodyPr wrap="square" lIns="0" rIns="0" tIns="0" bIns="0" anchor="t">
            <a:spAutoFit/>
          </a:bodyPr>
          <a:lstStyle/>
          <a:p>
            <a:pPr algn="l">
              <a:lnSpc>
                <a:spcPct val="115000"/>
              </a:lnSpc>
              <a:spcAft>
                <a:spcPts val="0"/>
              </a:spcAft>
            </a:pPr>
            <a:r>
              <a:rPr sz="1000" b="0">
                <a:solidFill>
                  <a:srgbClr val="6F6A60"/>
                </a:solidFill>
                <a:latin typeface="Segoe UI"/>
              </a:rPr>
              <a:t>ShaderMesh</a:t>
            </a:r>
          </a:p>
        </p:txBody>
      </p:sp>
      <p:sp>
        <p:nvSpPr>
          <p:cNvPr id="11" name="TextBox 10"/>
          <p:cNvSpPr txBox="1"/>
          <p:nvPr/>
        </p:nvSpPr>
        <p:spPr>
          <a:xfrm>
            <a:off x="10801807" y="6382512"/>
            <a:ext cx="822960" cy="274320"/>
          </a:xfrm>
          <a:prstGeom prst="rect">
            <a:avLst/>
          </a:prstGeom>
          <a:noFill/>
        </p:spPr>
        <p:txBody>
          <a:bodyPr wrap="square" lIns="0" rIns="0" tIns="0" bIns="0" anchor="t">
            <a:spAutoFit/>
          </a:bodyPr>
          <a:lstStyle/>
          <a:p>
            <a:pPr algn="r">
              <a:lnSpc>
                <a:spcPct val="115000"/>
              </a:lnSpc>
              <a:spcAft>
                <a:spcPts val="0"/>
              </a:spcAft>
            </a:pPr>
            <a:r>
              <a:rPr sz="1000" b="1">
                <a:solidFill>
                  <a:srgbClr val="6F6A60"/>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02336"/>
            <a:ext cx="822960" cy="3175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548640"/>
            <a:ext cx="11057839" cy="822960"/>
          </a:xfrm>
          <a:prstGeom prst="rect">
            <a:avLst/>
          </a:prstGeom>
          <a:noFill/>
        </p:spPr>
        <p:txBody>
          <a:bodyPr wrap="square" lIns="0" rIns="0" tIns="0" bIns="0" anchor="t">
            <a:spAutoFit/>
          </a:bodyPr>
          <a:lstStyle/>
          <a:p>
            <a:pPr algn="l">
              <a:lnSpc>
                <a:spcPct val="115000"/>
              </a:lnSpc>
              <a:spcAft>
                <a:spcPts val="400"/>
              </a:spcAft>
            </a:pPr>
            <a:r>
              <a:rPr sz="3000" b="1">
                <a:solidFill>
                  <a:srgbClr val="1A1814"/>
                </a:solidFill>
                <a:latin typeface="Segoe UI"/>
              </a:rPr>
              <a:t>Testing and gas cost</a:t>
            </a:r>
          </a:p>
          <a:p>
            <a:pPr algn="l">
              <a:lnSpc>
                <a:spcPct val="115000"/>
              </a:lnSpc>
              <a:spcAft>
                <a:spcPts val="0"/>
              </a:spcAft>
            </a:pPr>
            <a:r>
              <a:rPr sz="1350" b="0">
                <a:solidFill>
                  <a:srgbClr val="5E5950"/>
                </a:solidFill>
                <a:latin typeface="Segoe UI"/>
              </a:rPr>
              <a:t>Every layer has an automated suite, and CI runs all of them.</a:t>
            </a:r>
          </a:p>
        </p:txBody>
      </p:sp>
      <p:sp>
        <p:nvSpPr>
          <p:cNvPr id="5" name="Rounded Rectangle 4"/>
          <p:cNvSpPr/>
          <p:nvPr/>
        </p:nvSpPr>
        <p:spPr>
          <a:xfrm>
            <a:off x="566928" y="1645920"/>
            <a:ext cx="6126480" cy="3511296"/>
          </a:xfrm>
          <a:prstGeom prst="roundRect">
            <a:avLst>
              <a:gd name="adj" fmla="val 3500"/>
            </a:avLst>
          </a:prstGeom>
          <a:solidFill>
            <a:srgbClr val="FFFFFF"/>
          </a:solidFill>
          <a:ln w="12700">
            <a:solidFill>
              <a:srgbClr val="E6E2D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95528" y="1865376"/>
            <a:ext cx="1828800" cy="274320"/>
          </a:xfrm>
          <a:prstGeom prst="rect">
            <a:avLst/>
          </a:prstGeom>
          <a:noFill/>
        </p:spPr>
        <p:txBody>
          <a:bodyPr wrap="square" lIns="0" rIns="0" tIns="0" bIns="0" anchor="t">
            <a:spAutoFit/>
          </a:bodyPr>
          <a:lstStyle/>
          <a:p>
            <a:pPr algn="l">
              <a:lnSpc>
                <a:spcPct val="115000"/>
              </a:lnSpc>
              <a:spcAft>
                <a:spcPts val="0"/>
              </a:spcAft>
            </a:pPr>
            <a:r>
              <a:rPr sz="1050" b="1">
                <a:solidFill>
                  <a:srgbClr val="6F6A60"/>
                </a:solidFill>
                <a:latin typeface="Segoe UI"/>
              </a:rPr>
              <a:t>SUITE</a:t>
            </a:r>
          </a:p>
        </p:txBody>
      </p:sp>
      <p:sp>
        <p:nvSpPr>
          <p:cNvPr id="7" name="TextBox 6"/>
          <p:cNvSpPr txBox="1"/>
          <p:nvPr/>
        </p:nvSpPr>
        <p:spPr>
          <a:xfrm>
            <a:off x="3081528" y="1865376"/>
            <a:ext cx="1828800" cy="274320"/>
          </a:xfrm>
          <a:prstGeom prst="rect">
            <a:avLst/>
          </a:prstGeom>
          <a:noFill/>
        </p:spPr>
        <p:txBody>
          <a:bodyPr wrap="square" lIns="0" rIns="0" tIns="0" bIns="0" anchor="t">
            <a:spAutoFit/>
          </a:bodyPr>
          <a:lstStyle/>
          <a:p>
            <a:pPr algn="l">
              <a:lnSpc>
                <a:spcPct val="115000"/>
              </a:lnSpc>
              <a:spcAft>
                <a:spcPts val="0"/>
              </a:spcAft>
            </a:pPr>
            <a:r>
              <a:rPr sz="1050" b="1">
                <a:solidFill>
                  <a:srgbClr val="6F6A60"/>
                </a:solidFill>
                <a:latin typeface="Segoe UI"/>
              </a:rPr>
              <a:t>TESTS</a:t>
            </a:r>
          </a:p>
        </p:txBody>
      </p:sp>
      <p:sp>
        <p:nvSpPr>
          <p:cNvPr id="8" name="TextBox 7"/>
          <p:cNvSpPr txBox="1"/>
          <p:nvPr/>
        </p:nvSpPr>
        <p:spPr>
          <a:xfrm>
            <a:off x="4636008" y="1865376"/>
            <a:ext cx="1828800" cy="274320"/>
          </a:xfrm>
          <a:prstGeom prst="rect">
            <a:avLst/>
          </a:prstGeom>
          <a:noFill/>
        </p:spPr>
        <p:txBody>
          <a:bodyPr wrap="square" lIns="0" rIns="0" tIns="0" bIns="0" anchor="t">
            <a:spAutoFit/>
          </a:bodyPr>
          <a:lstStyle/>
          <a:p>
            <a:pPr algn="l">
              <a:lnSpc>
                <a:spcPct val="115000"/>
              </a:lnSpc>
              <a:spcAft>
                <a:spcPts val="0"/>
              </a:spcAft>
            </a:pPr>
            <a:r>
              <a:rPr sz="1050" b="1">
                <a:solidFill>
                  <a:srgbClr val="6F6A60"/>
                </a:solidFill>
                <a:latin typeface="Segoe UI"/>
              </a:rPr>
              <a:t>COVERS</a:t>
            </a:r>
          </a:p>
        </p:txBody>
      </p:sp>
      <p:sp>
        <p:nvSpPr>
          <p:cNvPr id="9" name="Rectangle 8"/>
          <p:cNvSpPr/>
          <p:nvPr/>
        </p:nvSpPr>
        <p:spPr>
          <a:xfrm>
            <a:off x="795528" y="2231136"/>
            <a:ext cx="5669280" cy="1270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2395728"/>
            <a:ext cx="2286000" cy="365760"/>
          </a:xfrm>
          <a:prstGeom prst="rect">
            <a:avLst/>
          </a:prstGeom>
          <a:noFill/>
        </p:spPr>
        <p:txBody>
          <a:bodyPr wrap="square" lIns="0" rIns="0" tIns="0" bIns="0" anchor="t">
            <a:spAutoFit/>
          </a:bodyPr>
          <a:lstStyle/>
          <a:p>
            <a:pPr algn="l">
              <a:lnSpc>
                <a:spcPct val="115000"/>
              </a:lnSpc>
              <a:spcAft>
                <a:spcPts val="0"/>
              </a:spcAft>
            </a:pPr>
            <a:r>
              <a:rPr sz="1450" b="1">
                <a:solidFill>
                  <a:srgbClr val="1A1814"/>
                </a:solidFill>
                <a:latin typeface="Segoe UI"/>
              </a:rPr>
              <a:t>Contracts (Hardhat)</a:t>
            </a:r>
          </a:p>
        </p:txBody>
      </p:sp>
      <p:sp>
        <p:nvSpPr>
          <p:cNvPr id="11" name="TextBox 10"/>
          <p:cNvSpPr txBox="1"/>
          <p:nvPr/>
        </p:nvSpPr>
        <p:spPr>
          <a:xfrm>
            <a:off x="3081528" y="2386584"/>
            <a:ext cx="1554480" cy="365760"/>
          </a:xfrm>
          <a:prstGeom prst="rect">
            <a:avLst/>
          </a:prstGeom>
          <a:noFill/>
        </p:spPr>
        <p:txBody>
          <a:bodyPr wrap="square" lIns="0" rIns="0" tIns="0" bIns="0" anchor="t">
            <a:spAutoFit/>
          </a:bodyPr>
          <a:lstStyle/>
          <a:p>
            <a:pPr algn="l">
              <a:lnSpc>
                <a:spcPct val="115000"/>
              </a:lnSpc>
              <a:spcAft>
                <a:spcPts val="0"/>
              </a:spcAft>
            </a:pPr>
            <a:r>
              <a:rPr sz="1450" b="1">
                <a:solidFill>
                  <a:srgbClr val="A34A06"/>
                </a:solidFill>
                <a:latin typeface="Consolas"/>
              </a:rPr>
              <a:t>42</a:t>
            </a:r>
          </a:p>
        </p:txBody>
      </p:sp>
      <p:sp>
        <p:nvSpPr>
          <p:cNvPr id="12" name="TextBox 11"/>
          <p:cNvSpPr txBox="1"/>
          <p:nvPr/>
        </p:nvSpPr>
        <p:spPr>
          <a:xfrm>
            <a:off x="4636008" y="2286000"/>
            <a:ext cx="1920240" cy="475488"/>
          </a:xfrm>
          <a:prstGeom prst="rect">
            <a:avLst/>
          </a:prstGeom>
          <a:noFill/>
        </p:spPr>
        <p:txBody>
          <a:bodyPr wrap="square" lIns="0" rIns="0" tIns="0" bIns="0" anchor="ctr">
            <a:spAutoFit/>
          </a:bodyPr>
          <a:lstStyle/>
          <a:p>
            <a:pPr algn="l">
              <a:lnSpc>
                <a:spcPct val="115000"/>
              </a:lnSpc>
              <a:spcAft>
                <a:spcPts val="0"/>
              </a:spcAft>
            </a:pPr>
            <a:r>
              <a:rPr sz="1250" b="0">
                <a:solidFill>
                  <a:srgbClr val="5E5950"/>
                </a:solidFill>
                <a:latin typeface="Segoe UI"/>
              </a:rPr>
              <a:t>unit and scenario</a:t>
            </a:r>
          </a:p>
        </p:txBody>
      </p:sp>
      <p:sp>
        <p:nvSpPr>
          <p:cNvPr id="13" name="Rectangle 12"/>
          <p:cNvSpPr/>
          <p:nvPr/>
        </p:nvSpPr>
        <p:spPr>
          <a:xfrm>
            <a:off x="795528" y="2816352"/>
            <a:ext cx="5669280" cy="1270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8" y="2980944"/>
            <a:ext cx="2286000" cy="365760"/>
          </a:xfrm>
          <a:prstGeom prst="rect">
            <a:avLst/>
          </a:prstGeom>
          <a:noFill/>
        </p:spPr>
        <p:txBody>
          <a:bodyPr wrap="square" lIns="0" rIns="0" tIns="0" bIns="0" anchor="t">
            <a:spAutoFit/>
          </a:bodyPr>
          <a:lstStyle/>
          <a:p>
            <a:pPr algn="l">
              <a:lnSpc>
                <a:spcPct val="115000"/>
              </a:lnSpc>
              <a:spcAft>
                <a:spcPts val="0"/>
              </a:spcAft>
            </a:pPr>
            <a:r>
              <a:rPr sz="1450" b="1">
                <a:solidFill>
                  <a:srgbClr val="1A1814"/>
                </a:solidFill>
                <a:latin typeface="Segoe UI"/>
              </a:rPr>
              <a:t>Provider agent</a:t>
            </a:r>
          </a:p>
        </p:txBody>
      </p:sp>
      <p:sp>
        <p:nvSpPr>
          <p:cNvPr id="15" name="TextBox 14"/>
          <p:cNvSpPr txBox="1"/>
          <p:nvPr/>
        </p:nvSpPr>
        <p:spPr>
          <a:xfrm>
            <a:off x="3081528" y="2971800"/>
            <a:ext cx="1554480" cy="365760"/>
          </a:xfrm>
          <a:prstGeom prst="rect">
            <a:avLst/>
          </a:prstGeom>
          <a:noFill/>
        </p:spPr>
        <p:txBody>
          <a:bodyPr wrap="square" lIns="0" rIns="0" tIns="0" bIns="0" anchor="t">
            <a:spAutoFit/>
          </a:bodyPr>
          <a:lstStyle/>
          <a:p>
            <a:pPr algn="l">
              <a:lnSpc>
                <a:spcPct val="115000"/>
              </a:lnSpc>
              <a:spcAft>
                <a:spcPts val="0"/>
              </a:spcAft>
            </a:pPr>
            <a:r>
              <a:rPr sz="1450" b="1">
                <a:solidFill>
                  <a:srgbClr val="A34A06"/>
                </a:solidFill>
                <a:latin typeface="Consolas"/>
              </a:rPr>
              <a:t>58</a:t>
            </a:r>
          </a:p>
        </p:txBody>
      </p:sp>
      <p:sp>
        <p:nvSpPr>
          <p:cNvPr id="16" name="TextBox 15"/>
          <p:cNvSpPr txBox="1"/>
          <p:nvPr/>
        </p:nvSpPr>
        <p:spPr>
          <a:xfrm>
            <a:off x="4636008" y="2871216"/>
            <a:ext cx="1920240" cy="475488"/>
          </a:xfrm>
          <a:prstGeom prst="rect">
            <a:avLst/>
          </a:prstGeom>
          <a:noFill/>
        </p:spPr>
        <p:txBody>
          <a:bodyPr wrap="square" lIns="0" rIns="0" tIns="0" bIns="0" anchor="ctr">
            <a:spAutoFit/>
          </a:bodyPr>
          <a:lstStyle/>
          <a:p>
            <a:pPr algn="l">
              <a:lnSpc>
                <a:spcPct val="115000"/>
              </a:lnSpc>
              <a:spcAft>
                <a:spcPts val="0"/>
              </a:spcAft>
            </a:pPr>
            <a:r>
              <a:rPr sz="1250" b="0">
                <a:solidFill>
                  <a:srgbClr val="5E5950"/>
                </a:solidFill>
                <a:latin typeface="Segoe UI"/>
              </a:rPr>
              <a:t>leases, challenges</a:t>
            </a:r>
          </a:p>
        </p:txBody>
      </p:sp>
      <p:sp>
        <p:nvSpPr>
          <p:cNvPr id="17" name="Rectangle 16"/>
          <p:cNvSpPr/>
          <p:nvPr/>
        </p:nvSpPr>
        <p:spPr>
          <a:xfrm>
            <a:off x="795528" y="3401568"/>
            <a:ext cx="5669280" cy="1270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528" y="3566160"/>
            <a:ext cx="2286000" cy="365760"/>
          </a:xfrm>
          <a:prstGeom prst="rect">
            <a:avLst/>
          </a:prstGeom>
          <a:noFill/>
        </p:spPr>
        <p:txBody>
          <a:bodyPr wrap="square" lIns="0" rIns="0" tIns="0" bIns="0" anchor="t">
            <a:spAutoFit/>
          </a:bodyPr>
          <a:lstStyle/>
          <a:p>
            <a:pPr algn="l">
              <a:lnSpc>
                <a:spcPct val="115000"/>
              </a:lnSpc>
              <a:spcAft>
                <a:spcPts val="0"/>
              </a:spcAft>
            </a:pPr>
            <a:r>
              <a:rPr sz="1450" b="1">
                <a:solidFill>
                  <a:srgbClr val="1A1814"/>
                </a:solidFill>
                <a:latin typeface="Segoe UI"/>
              </a:rPr>
              <a:t>Orchestrator</a:t>
            </a:r>
          </a:p>
        </p:txBody>
      </p:sp>
      <p:sp>
        <p:nvSpPr>
          <p:cNvPr id="19" name="TextBox 18"/>
          <p:cNvSpPr txBox="1"/>
          <p:nvPr/>
        </p:nvSpPr>
        <p:spPr>
          <a:xfrm>
            <a:off x="3081528" y="3557016"/>
            <a:ext cx="1554480" cy="365760"/>
          </a:xfrm>
          <a:prstGeom prst="rect">
            <a:avLst/>
          </a:prstGeom>
          <a:noFill/>
        </p:spPr>
        <p:txBody>
          <a:bodyPr wrap="square" lIns="0" rIns="0" tIns="0" bIns="0" anchor="t">
            <a:spAutoFit/>
          </a:bodyPr>
          <a:lstStyle/>
          <a:p>
            <a:pPr algn="l">
              <a:lnSpc>
                <a:spcPct val="115000"/>
              </a:lnSpc>
              <a:spcAft>
                <a:spcPts val="0"/>
              </a:spcAft>
            </a:pPr>
            <a:r>
              <a:rPr sz="1450" b="1">
                <a:solidFill>
                  <a:srgbClr val="A34A06"/>
                </a:solidFill>
                <a:latin typeface="Consolas"/>
              </a:rPr>
              <a:t>54 + 1 skipped</a:t>
            </a:r>
          </a:p>
        </p:txBody>
      </p:sp>
      <p:sp>
        <p:nvSpPr>
          <p:cNvPr id="20" name="TextBox 19"/>
          <p:cNvSpPr txBox="1"/>
          <p:nvPr/>
        </p:nvSpPr>
        <p:spPr>
          <a:xfrm>
            <a:off x="4636008" y="3456432"/>
            <a:ext cx="1920240" cy="475488"/>
          </a:xfrm>
          <a:prstGeom prst="rect">
            <a:avLst/>
          </a:prstGeom>
          <a:noFill/>
        </p:spPr>
        <p:txBody>
          <a:bodyPr wrap="square" lIns="0" rIns="0" tIns="0" bIns="0" anchor="ctr">
            <a:spAutoFit/>
          </a:bodyPr>
          <a:lstStyle/>
          <a:p>
            <a:pPr algn="l">
              <a:lnSpc>
                <a:spcPct val="115000"/>
              </a:lnSpc>
              <a:spcAft>
                <a:spcPts val="0"/>
              </a:spcAft>
            </a:pPr>
            <a:r>
              <a:rPr sz="1250" b="0">
                <a:solidFill>
                  <a:srgbClr val="5E5950"/>
                </a:solidFill>
                <a:latin typeface="Segoe UI"/>
              </a:rPr>
              <a:t>skipped needs live stack</a:t>
            </a:r>
          </a:p>
        </p:txBody>
      </p:sp>
      <p:sp>
        <p:nvSpPr>
          <p:cNvPr id="21" name="Rectangle 20"/>
          <p:cNvSpPr/>
          <p:nvPr/>
        </p:nvSpPr>
        <p:spPr>
          <a:xfrm>
            <a:off x="795528" y="3986784"/>
            <a:ext cx="5669280" cy="1270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5528" y="4151376"/>
            <a:ext cx="2286000" cy="365760"/>
          </a:xfrm>
          <a:prstGeom prst="rect">
            <a:avLst/>
          </a:prstGeom>
          <a:noFill/>
        </p:spPr>
        <p:txBody>
          <a:bodyPr wrap="square" lIns="0" rIns="0" tIns="0" bIns="0" anchor="t">
            <a:spAutoFit/>
          </a:bodyPr>
          <a:lstStyle/>
          <a:p>
            <a:pPr algn="l">
              <a:lnSpc>
                <a:spcPct val="115000"/>
              </a:lnSpc>
              <a:spcAft>
                <a:spcPts val="0"/>
              </a:spcAft>
            </a:pPr>
            <a:r>
              <a:rPr sz="1450" b="1">
                <a:solidFill>
                  <a:srgbClr val="1A1814"/>
                </a:solidFill>
                <a:latin typeface="Segoe UI"/>
              </a:rPr>
              <a:t>Simulator</a:t>
            </a:r>
          </a:p>
        </p:txBody>
      </p:sp>
      <p:sp>
        <p:nvSpPr>
          <p:cNvPr id="23" name="TextBox 22"/>
          <p:cNvSpPr txBox="1"/>
          <p:nvPr/>
        </p:nvSpPr>
        <p:spPr>
          <a:xfrm>
            <a:off x="3081528" y="4142232"/>
            <a:ext cx="1554480" cy="365760"/>
          </a:xfrm>
          <a:prstGeom prst="rect">
            <a:avLst/>
          </a:prstGeom>
          <a:noFill/>
        </p:spPr>
        <p:txBody>
          <a:bodyPr wrap="square" lIns="0" rIns="0" tIns="0" bIns="0" anchor="t">
            <a:spAutoFit/>
          </a:bodyPr>
          <a:lstStyle/>
          <a:p>
            <a:pPr algn="l">
              <a:lnSpc>
                <a:spcPct val="115000"/>
              </a:lnSpc>
              <a:spcAft>
                <a:spcPts val="0"/>
              </a:spcAft>
            </a:pPr>
            <a:r>
              <a:rPr sz="1450" b="1">
                <a:solidFill>
                  <a:srgbClr val="A34A06"/>
                </a:solidFill>
                <a:latin typeface="Consolas"/>
              </a:rPr>
              <a:t>15</a:t>
            </a:r>
          </a:p>
        </p:txBody>
      </p:sp>
      <p:sp>
        <p:nvSpPr>
          <p:cNvPr id="24" name="TextBox 23"/>
          <p:cNvSpPr txBox="1"/>
          <p:nvPr/>
        </p:nvSpPr>
        <p:spPr>
          <a:xfrm>
            <a:off x="4636008" y="4041648"/>
            <a:ext cx="1920240" cy="475488"/>
          </a:xfrm>
          <a:prstGeom prst="rect">
            <a:avLst/>
          </a:prstGeom>
          <a:noFill/>
        </p:spPr>
        <p:txBody>
          <a:bodyPr wrap="square" lIns="0" rIns="0" tIns="0" bIns="0" anchor="ctr">
            <a:spAutoFit/>
          </a:bodyPr>
          <a:lstStyle/>
          <a:p>
            <a:pPr algn="l">
              <a:lnSpc>
                <a:spcPct val="115000"/>
              </a:lnSpc>
              <a:spcAft>
                <a:spcPts val="0"/>
              </a:spcAft>
            </a:pPr>
            <a:r>
              <a:rPr sz="1250" b="0">
                <a:solidFill>
                  <a:srgbClr val="5E5950"/>
                </a:solidFill>
                <a:latin typeface="Segoe UI"/>
              </a:rPr>
              <a:t>game economics</a:t>
            </a:r>
          </a:p>
        </p:txBody>
      </p:sp>
      <p:sp>
        <p:nvSpPr>
          <p:cNvPr id="25" name="Rectangle 24"/>
          <p:cNvSpPr/>
          <p:nvPr/>
        </p:nvSpPr>
        <p:spPr>
          <a:xfrm>
            <a:off x="795528" y="4572000"/>
            <a:ext cx="5669280" cy="1270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5528" y="4736592"/>
            <a:ext cx="2286000" cy="365760"/>
          </a:xfrm>
          <a:prstGeom prst="rect">
            <a:avLst/>
          </a:prstGeom>
          <a:noFill/>
        </p:spPr>
        <p:txBody>
          <a:bodyPr wrap="square" lIns="0" rIns="0" tIns="0" bIns="0" anchor="t">
            <a:spAutoFit/>
          </a:bodyPr>
          <a:lstStyle/>
          <a:p>
            <a:pPr algn="l">
              <a:lnSpc>
                <a:spcPct val="115000"/>
              </a:lnSpc>
              <a:spcAft>
                <a:spcPts val="0"/>
              </a:spcAft>
            </a:pPr>
            <a:r>
              <a:rPr sz="1450" b="1">
                <a:solidFill>
                  <a:srgbClr val="1A1814"/>
                </a:solidFill>
                <a:latin typeface="Segoe UI"/>
              </a:rPr>
              <a:t>Web (Playwright)</a:t>
            </a:r>
          </a:p>
        </p:txBody>
      </p:sp>
      <p:sp>
        <p:nvSpPr>
          <p:cNvPr id="27" name="TextBox 26"/>
          <p:cNvSpPr txBox="1"/>
          <p:nvPr/>
        </p:nvSpPr>
        <p:spPr>
          <a:xfrm>
            <a:off x="3081528" y="4727448"/>
            <a:ext cx="1554480" cy="365760"/>
          </a:xfrm>
          <a:prstGeom prst="rect">
            <a:avLst/>
          </a:prstGeom>
          <a:noFill/>
        </p:spPr>
        <p:txBody>
          <a:bodyPr wrap="square" lIns="0" rIns="0" tIns="0" bIns="0" anchor="t">
            <a:spAutoFit/>
          </a:bodyPr>
          <a:lstStyle/>
          <a:p>
            <a:pPr algn="l">
              <a:lnSpc>
                <a:spcPct val="115000"/>
              </a:lnSpc>
              <a:spcAft>
                <a:spcPts val="0"/>
              </a:spcAft>
            </a:pPr>
            <a:r>
              <a:rPr sz="1450" b="1">
                <a:solidFill>
                  <a:srgbClr val="A34A06"/>
                </a:solidFill>
                <a:latin typeface="Consolas"/>
              </a:rPr>
              <a:t>30</a:t>
            </a:r>
          </a:p>
        </p:txBody>
      </p:sp>
      <p:sp>
        <p:nvSpPr>
          <p:cNvPr id="28" name="TextBox 27"/>
          <p:cNvSpPr txBox="1"/>
          <p:nvPr/>
        </p:nvSpPr>
        <p:spPr>
          <a:xfrm>
            <a:off x="4636008" y="4626864"/>
            <a:ext cx="1920240" cy="475488"/>
          </a:xfrm>
          <a:prstGeom prst="rect">
            <a:avLst/>
          </a:prstGeom>
          <a:noFill/>
        </p:spPr>
        <p:txBody>
          <a:bodyPr wrap="square" lIns="0" rIns="0" tIns="0" bIns="0" anchor="ctr">
            <a:spAutoFit/>
          </a:bodyPr>
          <a:lstStyle/>
          <a:p>
            <a:pPr algn="l">
              <a:lnSpc>
                <a:spcPct val="115000"/>
              </a:lnSpc>
              <a:spcAft>
                <a:spcPts val="0"/>
              </a:spcAft>
            </a:pPr>
            <a:r>
              <a:rPr sz="1250" b="0">
                <a:solidFill>
                  <a:srgbClr val="5E5950"/>
                </a:solidFill>
                <a:latin typeface="Segoe UI"/>
              </a:rPr>
              <a:t>incl. 4 wallet-write</a:t>
            </a:r>
          </a:p>
        </p:txBody>
      </p:sp>
      <p:sp>
        <p:nvSpPr>
          <p:cNvPr id="29" name="Rounded Rectangle 28"/>
          <p:cNvSpPr/>
          <p:nvPr/>
        </p:nvSpPr>
        <p:spPr>
          <a:xfrm>
            <a:off x="6967728" y="1645920"/>
            <a:ext cx="4657039" cy="3511296"/>
          </a:xfrm>
          <a:prstGeom prst="roundRect">
            <a:avLst>
              <a:gd name="adj" fmla="val 3500"/>
            </a:avLst>
          </a:prstGeom>
          <a:solidFill>
            <a:srgbClr val="FFFFFF"/>
          </a:solidFill>
          <a:ln w="12700">
            <a:solidFill>
              <a:srgbClr val="E6E2D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196328" y="1865376"/>
            <a:ext cx="1828800" cy="274320"/>
          </a:xfrm>
          <a:prstGeom prst="rect">
            <a:avLst/>
          </a:prstGeom>
          <a:noFill/>
        </p:spPr>
        <p:txBody>
          <a:bodyPr wrap="square" lIns="0" rIns="0" tIns="0" bIns="0" anchor="t">
            <a:spAutoFit/>
          </a:bodyPr>
          <a:lstStyle/>
          <a:p>
            <a:pPr algn="l">
              <a:lnSpc>
                <a:spcPct val="115000"/>
              </a:lnSpc>
              <a:spcAft>
                <a:spcPts val="0"/>
              </a:spcAft>
            </a:pPr>
            <a:r>
              <a:rPr sz="1050" b="1">
                <a:solidFill>
                  <a:srgbClr val="6F6A60"/>
                </a:solidFill>
                <a:latin typeface="Segoe UI"/>
              </a:rPr>
              <a:t>TRANSACTION</a:t>
            </a:r>
          </a:p>
        </p:txBody>
      </p:sp>
      <p:sp>
        <p:nvSpPr>
          <p:cNvPr id="31" name="TextBox 30"/>
          <p:cNvSpPr txBox="1"/>
          <p:nvPr/>
        </p:nvSpPr>
        <p:spPr>
          <a:xfrm>
            <a:off x="10161727" y="1865376"/>
            <a:ext cx="1234440" cy="274320"/>
          </a:xfrm>
          <a:prstGeom prst="rect">
            <a:avLst/>
          </a:prstGeom>
          <a:noFill/>
        </p:spPr>
        <p:txBody>
          <a:bodyPr wrap="square" lIns="0" rIns="0" tIns="0" bIns="0" anchor="t">
            <a:spAutoFit/>
          </a:bodyPr>
          <a:lstStyle/>
          <a:p>
            <a:pPr algn="r">
              <a:lnSpc>
                <a:spcPct val="115000"/>
              </a:lnSpc>
              <a:spcAft>
                <a:spcPts val="0"/>
              </a:spcAft>
            </a:pPr>
            <a:r>
              <a:rPr sz="1050" b="1">
                <a:solidFill>
                  <a:srgbClr val="6F6A60"/>
                </a:solidFill>
                <a:latin typeface="Segoe UI"/>
              </a:rPr>
              <a:t>GAS USED</a:t>
            </a:r>
          </a:p>
        </p:txBody>
      </p:sp>
      <p:sp>
        <p:nvSpPr>
          <p:cNvPr id="32" name="Rectangle 31"/>
          <p:cNvSpPr/>
          <p:nvPr/>
        </p:nvSpPr>
        <p:spPr>
          <a:xfrm>
            <a:off x="7196328" y="2212848"/>
            <a:ext cx="4199839" cy="1270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196328" y="2331720"/>
            <a:ext cx="2919679" cy="274320"/>
          </a:xfrm>
          <a:prstGeom prst="rect">
            <a:avLst/>
          </a:prstGeom>
          <a:noFill/>
        </p:spPr>
        <p:txBody>
          <a:bodyPr wrap="square" lIns="0" rIns="0" tIns="0" bIns="0" anchor="t">
            <a:spAutoFit/>
          </a:bodyPr>
          <a:lstStyle/>
          <a:p>
            <a:pPr algn="l">
              <a:lnSpc>
                <a:spcPct val="115000"/>
              </a:lnSpc>
              <a:spcAft>
                <a:spcPts val="0"/>
              </a:spcAft>
            </a:pPr>
            <a:r>
              <a:rPr sz="1300" b="0">
                <a:solidFill>
                  <a:srgbClr val="1A1814"/>
                </a:solidFill>
                <a:latin typeface="Consolas"/>
              </a:rPr>
              <a:t>rental.requestLease</a:t>
            </a:r>
          </a:p>
        </p:txBody>
      </p:sp>
      <p:sp>
        <p:nvSpPr>
          <p:cNvPr id="34" name="TextBox 33"/>
          <p:cNvSpPr txBox="1"/>
          <p:nvPr/>
        </p:nvSpPr>
        <p:spPr>
          <a:xfrm>
            <a:off x="10161727" y="2322576"/>
            <a:ext cx="1234440" cy="274320"/>
          </a:xfrm>
          <a:prstGeom prst="rect">
            <a:avLst/>
          </a:prstGeom>
          <a:noFill/>
        </p:spPr>
        <p:txBody>
          <a:bodyPr wrap="square" lIns="0" rIns="0" tIns="0" bIns="0" anchor="t">
            <a:spAutoFit/>
          </a:bodyPr>
          <a:lstStyle/>
          <a:p>
            <a:pPr algn="r">
              <a:lnSpc>
                <a:spcPct val="115000"/>
              </a:lnSpc>
              <a:spcAft>
                <a:spcPts val="0"/>
              </a:spcAft>
            </a:pPr>
            <a:r>
              <a:rPr sz="1400" b="1">
                <a:solidFill>
                  <a:srgbClr val="A34A06"/>
                </a:solidFill>
                <a:latin typeface="Consolas"/>
              </a:rPr>
              <a:t>251,540</a:t>
            </a:r>
          </a:p>
        </p:txBody>
      </p:sp>
      <p:sp>
        <p:nvSpPr>
          <p:cNvPr id="35" name="Rectangle 34"/>
          <p:cNvSpPr/>
          <p:nvPr/>
        </p:nvSpPr>
        <p:spPr>
          <a:xfrm>
            <a:off x="7196328" y="2706624"/>
            <a:ext cx="4199839" cy="1270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96328" y="2825496"/>
            <a:ext cx="2919679" cy="274320"/>
          </a:xfrm>
          <a:prstGeom prst="rect">
            <a:avLst/>
          </a:prstGeom>
          <a:noFill/>
        </p:spPr>
        <p:txBody>
          <a:bodyPr wrap="square" lIns="0" rIns="0" tIns="0" bIns="0" anchor="t">
            <a:spAutoFit/>
          </a:bodyPr>
          <a:lstStyle/>
          <a:p>
            <a:pPr algn="l">
              <a:lnSpc>
                <a:spcPct val="115000"/>
              </a:lnSpc>
              <a:spcAft>
                <a:spcPts val="0"/>
              </a:spcAft>
            </a:pPr>
            <a:r>
              <a:rPr sz="1300" b="0">
                <a:solidFill>
                  <a:srgbClr val="1A1814"/>
                </a:solidFill>
                <a:latin typeface="Consolas"/>
              </a:rPr>
              <a:t>rental.acceptLease</a:t>
            </a:r>
          </a:p>
        </p:txBody>
      </p:sp>
      <p:sp>
        <p:nvSpPr>
          <p:cNvPr id="37" name="TextBox 36"/>
          <p:cNvSpPr txBox="1"/>
          <p:nvPr/>
        </p:nvSpPr>
        <p:spPr>
          <a:xfrm>
            <a:off x="10161727" y="2816352"/>
            <a:ext cx="1234440" cy="274320"/>
          </a:xfrm>
          <a:prstGeom prst="rect">
            <a:avLst/>
          </a:prstGeom>
          <a:noFill/>
        </p:spPr>
        <p:txBody>
          <a:bodyPr wrap="square" lIns="0" rIns="0" tIns="0" bIns="0" anchor="t">
            <a:spAutoFit/>
          </a:bodyPr>
          <a:lstStyle/>
          <a:p>
            <a:pPr algn="r">
              <a:lnSpc>
                <a:spcPct val="115000"/>
              </a:lnSpc>
              <a:spcAft>
                <a:spcPts val="0"/>
              </a:spcAft>
            </a:pPr>
            <a:r>
              <a:rPr sz="1400" b="1">
                <a:solidFill>
                  <a:srgbClr val="A34A06"/>
                </a:solidFill>
                <a:latin typeface="Consolas"/>
              </a:rPr>
              <a:t>154,207</a:t>
            </a:r>
          </a:p>
        </p:txBody>
      </p:sp>
      <p:sp>
        <p:nvSpPr>
          <p:cNvPr id="38" name="Rectangle 37"/>
          <p:cNvSpPr/>
          <p:nvPr/>
        </p:nvSpPr>
        <p:spPr>
          <a:xfrm>
            <a:off x="7196328" y="3200400"/>
            <a:ext cx="4199839" cy="1270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196328" y="3319272"/>
            <a:ext cx="2919679" cy="274320"/>
          </a:xfrm>
          <a:prstGeom prst="rect">
            <a:avLst/>
          </a:prstGeom>
          <a:noFill/>
        </p:spPr>
        <p:txBody>
          <a:bodyPr wrap="square" lIns="0" rIns="0" tIns="0" bIns="0" anchor="t">
            <a:spAutoFit/>
          </a:bodyPr>
          <a:lstStyle/>
          <a:p>
            <a:pPr algn="l">
              <a:lnSpc>
                <a:spcPct val="115000"/>
              </a:lnSpc>
              <a:spcAft>
                <a:spcPts val="0"/>
              </a:spcAft>
            </a:pPr>
            <a:r>
              <a:rPr sz="1300" b="0">
                <a:solidFill>
                  <a:srgbClr val="1A1814"/>
                </a:solidFill>
                <a:latin typeface="Consolas"/>
              </a:rPr>
              <a:t>rental.heartbeat</a:t>
            </a:r>
          </a:p>
        </p:txBody>
      </p:sp>
      <p:sp>
        <p:nvSpPr>
          <p:cNvPr id="40" name="TextBox 39"/>
          <p:cNvSpPr txBox="1"/>
          <p:nvPr/>
        </p:nvSpPr>
        <p:spPr>
          <a:xfrm>
            <a:off x="10161727" y="3310128"/>
            <a:ext cx="1234440" cy="274320"/>
          </a:xfrm>
          <a:prstGeom prst="rect">
            <a:avLst/>
          </a:prstGeom>
          <a:noFill/>
        </p:spPr>
        <p:txBody>
          <a:bodyPr wrap="square" lIns="0" rIns="0" tIns="0" bIns="0" anchor="t">
            <a:spAutoFit/>
          </a:bodyPr>
          <a:lstStyle/>
          <a:p>
            <a:pPr algn="r">
              <a:lnSpc>
                <a:spcPct val="115000"/>
              </a:lnSpc>
              <a:spcAft>
                <a:spcPts val="0"/>
              </a:spcAft>
            </a:pPr>
            <a:r>
              <a:rPr sz="1400" b="1">
                <a:solidFill>
                  <a:srgbClr val="A34A06"/>
                </a:solidFill>
                <a:latin typeface="Consolas"/>
              </a:rPr>
              <a:t>56,487</a:t>
            </a:r>
          </a:p>
        </p:txBody>
      </p:sp>
      <p:sp>
        <p:nvSpPr>
          <p:cNvPr id="41" name="Rectangle 40"/>
          <p:cNvSpPr/>
          <p:nvPr/>
        </p:nvSpPr>
        <p:spPr>
          <a:xfrm>
            <a:off x="7196328" y="3694176"/>
            <a:ext cx="4199839" cy="1270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196328" y="3813048"/>
            <a:ext cx="2919679" cy="274320"/>
          </a:xfrm>
          <a:prstGeom prst="rect">
            <a:avLst/>
          </a:prstGeom>
          <a:noFill/>
        </p:spPr>
        <p:txBody>
          <a:bodyPr wrap="square" lIns="0" rIns="0" tIns="0" bIns="0" anchor="t">
            <a:spAutoFit/>
          </a:bodyPr>
          <a:lstStyle/>
          <a:p>
            <a:pPr algn="l">
              <a:lnSpc>
                <a:spcPct val="115000"/>
              </a:lnSpc>
              <a:spcAft>
                <a:spcPts val="0"/>
              </a:spcAft>
            </a:pPr>
            <a:r>
              <a:rPr sz="1300" b="0">
                <a:solidFill>
                  <a:srgbClr val="1A1814"/>
                </a:solidFill>
                <a:latin typeface="Consolas"/>
              </a:rPr>
              <a:t>rental.settle</a:t>
            </a:r>
          </a:p>
        </p:txBody>
      </p:sp>
      <p:sp>
        <p:nvSpPr>
          <p:cNvPr id="43" name="TextBox 42"/>
          <p:cNvSpPr txBox="1"/>
          <p:nvPr/>
        </p:nvSpPr>
        <p:spPr>
          <a:xfrm>
            <a:off x="10161727" y="3803904"/>
            <a:ext cx="1234440" cy="274320"/>
          </a:xfrm>
          <a:prstGeom prst="rect">
            <a:avLst/>
          </a:prstGeom>
          <a:noFill/>
        </p:spPr>
        <p:txBody>
          <a:bodyPr wrap="square" lIns="0" rIns="0" tIns="0" bIns="0" anchor="t">
            <a:spAutoFit/>
          </a:bodyPr>
          <a:lstStyle/>
          <a:p>
            <a:pPr algn="r">
              <a:lnSpc>
                <a:spcPct val="115000"/>
              </a:lnSpc>
              <a:spcAft>
                <a:spcPts val="0"/>
              </a:spcAft>
            </a:pPr>
            <a:r>
              <a:rPr sz="1400" b="1">
                <a:solidFill>
                  <a:srgbClr val="A34A06"/>
                </a:solidFill>
                <a:latin typeface="Consolas"/>
              </a:rPr>
              <a:t>59,987</a:t>
            </a:r>
          </a:p>
        </p:txBody>
      </p:sp>
      <p:sp>
        <p:nvSpPr>
          <p:cNvPr id="44" name="Rectangle 43"/>
          <p:cNvSpPr/>
          <p:nvPr/>
        </p:nvSpPr>
        <p:spPr>
          <a:xfrm>
            <a:off x="7196328" y="4187952"/>
            <a:ext cx="4199839" cy="1270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196328" y="4306824"/>
            <a:ext cx="2919679" cy="274320"/>
          </a:xfrm>
          <a:prstGeom prst="rect">
            <a:avLst/>
          </a:prstGeom>
          <a:noFill/>
        </p:spPr>
        <p:txBody>
          <a:bodyPr wrap="square" lIns="0" rIns="0" tIns="0" bIns="0" anchor="t">
            <a:spAutoFit/>
          </a:bodyPr>
          <a:lstStyle/>
          <a:p>
            <a:pPr algn="l">
              <a:lnSpc>
                <a:spcPct val="115000"/>
              </a:lnSpc>
              <a:spcAft>
                <a:spcPts val="0"/>
              </a:spcAft>
            </a:pPr>
            <a:r>
              <a:rPr sz="1300" b="0">
                <a:solidFill>
                  <a:srgbClr val="1A1814"/>
                </a:solidFill>
                <a:latin typeface="Consolas"/>
              </a:rPr>
              <a:t>registry.issueChallenge</a:t>
            </a:r>
          </a:p>
        </p:txBody>
      </p:sp>
      <p:sp>
        <p:nvSpPr>
          <p:cNvPr id="46" name="TextBox 45"/>
          <p:cNvSpPr txBox="1"/>
          <p:nvPr/>
        </p:nvSpPr>
        <p:spPr>
          <a:xfrm>
            <a:off x="10161727" y="4297680"/>
            <a:ext cx="1234440" cy="274320"/>
          </a:xfrm>
          <a:prstGeom prst="rect">
            <a:avLst/>
          </a:prstGeom>
          <a:noFill/>
        </p:spPr>
        <p:txBody>
          <a:bodyPr wrap="square" lIns="0" rIns="0" tIns="0" bIns="0" anchor="t">
            <a:spAutoFit/>
          </a:bodyPr>
          <a:lstStyle/>
          <a:p>
            <a:pPr algn="r">
              <a:lnSpc>
                <a:spcPct val="115000"/>
              </a:lnSpc>
              <a:spcAft>
                <a:spcPts val="0"/>
              </a:spcAft>
            </a:pPr>
            <a:r>
              <a:rPr sz="1400" b="1">
                <a:solidFill>
                  <a:srgbClr val="A34A06"/>
                </a:solidFill>
                <a:latin typeface="Consolas"/>
              </a:rPr>
              <a:t>129,754</a:t>
            </a:r>
          </a:p>
        </p:txBody>
      </p:sp>
      <p:sp>
        <p:nvSpPr>
          <p:cNvPr id="47" name="Rectangle 46"/>
          <p:cNvSpPr/>
          <p:nvPr/>
        </p:nvSpPr>
        <p:spPr>
          <a:xfrm>
            <a:off x="7196328" y="4681728"/>
            <a:ext cx="4199839" cy="1270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196328" y="4800600"/>
            <a:ext cx="2919679" cy="274320"/>
          </a:xfrm>
          <a:prstGeom prst="rect">
            <a:avLst/>
          </a:prstGeom>
          <a:noFill/>
        </p:spPr>
        <p:txBody>
          <a:bodyPr wrap="square" lIns="0" rIns="0" tIns="0" bIns="0" anchor="t">
            <a:spAutoFit/>
          </a:bodyPr>
          <a:lstStyle/>
          <a:p>
            <a:pPr algn="l">
              <a:lnSpc>
                <a:spcPct val="115000"/>
              </a:lnSpc>
              <a:spcAft>
                <a:spcPts val="0"/>
              </a:spcAft>
            </a:pPr>
            <a:r>
              <a:rPr sz="1300" b="0">
                <a:solidFill>
                  <a:srgbClr val="1A1814"/>
                </a:solidFill>
                <a:latin typeface="Consolas"/>
              </a:rPr>
              <a:t>registry.respondChallenge</a:t>
            </a:r>
          </a:p>
        </p:txBody>
      </p:sp>
      <p:sp>
        <p:nvSpPr>
          <p:cNvPr id="49" name="TextBox 48"/>
          <p:cNvSpPr txBox="1"/>
          <p:nvPr/>
        </p:nvSpPr>
        <p:spPr>
          <a:xfrm>
            <a:off x="10161727" y="4791456"/>
            <a:ext cx="1234440" cy="274320"/>
          </a:xfrm>
          <a:prstGeom prst="rect">
            <a:avLst/>
          </a:prstGeom>
          <a:noFill/>
        </p:spPr>
        <p:txBody>
          <a:bodyPr wrap="square" lIns="0" rIns="0" tIns="0" bIns="0" anchor="t">
            <a:spAutoFit/>
          </a:bodyPr>
          <a:lstStyle/>
          <a:p>
            <a:pPr algn="r">
              <a:lnSpc>
                <a:spcPct val="115000"/>
              </a:lnSpc>
              <a:spcAft>
                <a:spcPts val="0"/>
              </a:spcAft>
            </a:pPr>
            <a:r>
              <a:rPr sz="1400" b="1">
                <a:solidFill>
                  <a:srgbClr val="A34A06"/>
                </a:solidFill>
                <a:latin typeface="Consolas"/>
              </a:rPr>
              <a:t>76,217</a:t>
            </a:r>
          </a:p>
        </p:txBody>
      </p:sp>
      <p:sp>
        <p:nvSpPr>
          <p:cNvPr id="50" name="Rounded Rectangle 49"/>
          <p:cNvSpPr/>
          <p:nvPr/>
        </p:nvSpPr>
        <p:spPr>
          <a:xfrm>
            <a:off x="566928" y="5385816"/>
            <a:ext cx="11057839" cy="640080"/>
          </a:xfrm>
          <a:prstGeom prst="roundRect">
            <a:avLst>
              <a:gd name="adj" fmla="val 3500"/>
            </a:avLst>
          </a:prstGeom>
          <a:solidFill>
            <a:srgbClr val="E8F4EC"/>
          </a:solidFill>
          <a:ln w="12700">
            <a:solidFill>
              <a:srgbClr val="137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41248" y="5568696"/>
            <a:ext cx="10509199" cy="320040"/>
          </a:xfrm>
          <a:prstGeom prst="rect">
            <a:avLst/>
          </a:prstGeom>
          <a:noFill/>
        </p:spPr>
        <p:txBody>
          <a:bodyPr wrap="square" lIns="0" rIns="0" tIns="0" bIns="0" anchor="t">
            <a:spAutoFit/>
          </a:bodyPr>
          <a:lstStyle/>
          <a:p>
            <a:pPr algn="l">
              <a:lnSpc>
                <a:spcPct val="115000"/>
              </a:lnSpc>
              <a:spcAft>
                <a:spcPts val="0"/>
              </a:spcAft>
            </a:pPr>
            <a:r>
              <a:rPr sz="1450" b="1">
                <a:solidFill>
                  <a:srgbClr val="1A1814"/>
                </a:solidFill>
                <a:latin typeface="Segoe UI"/>
              </a:rPr>
              <a:t>CI compiles and tests every component on each push. Playwright signs real transactions.</a:t>
            </a:r>
          </a:p>
        </p:txBody>
      </p:sp>
      <p:sp>
        <p:nvSpPr>
          <p:cNvPr id="52" name="TextBox 51"/>
          <p:cNvSpPr txBox="1"/>
          <p:nvPr/>
        </p:nvSpPr>
        <p:spPr>
          <a:xfrm>
            <a:off x="566928" y="6382512"/>
            <a:ext cx="10051999" cy="274320"/>
          </a:xfrm>
          <a:prstGeom prst="rect">
            <a:avLst/>
          </a:prstGeom>
          <a:noFill/>
        </p:spPr>
        <p:txBody>
          <a:bodyPr wrap="square" lIns="0" rIns="0" tIns="0" bIns="0" anchor="t">
            <a:spAutoFit/>
          </a:bodyPr>
          <a:lstStyle/>
          <a:p>
            <a:pPr algn="l">
              <a:lnSpc>
                <a:spcPct val="115000"/>
              </a:lnSpc>
              <a:spcAft>
                <a:spcPts val="0"/>
              </a:spcAft>
            </a:pPr>
            <a:r>
              <a:rPr sz="1000" b="0">
                <a:solidFill>
                  <a:srgbClr val="6F6A60"/>
                </a:solidFill>
                <a:latin typeface="Segoe UI"/>
              </a:rPr>
              <a:t>ShaderMesh</a:t>
            </a:r>
          </a:p>
        </p:txBody>
      </p:sp>
      <p:sp>
        <p:nvSpPr>
          <p:cNvPr id="53" name="TextBox 52"/>
          <p:cNvSpPr txBox="1"/>
          <p:nvPr/>
        </p:nvSpPr>
        <p:spPr>
          <a:xfrm>
            <a:off x="10801807" y="6382512"/>
            <a:ext cx="822960" cy="274320"/>
          </a:xfrm>
          <a:prstGeom prst="rect">
            <a:avLst/>
          </a:prstGeom>
          <a:noFill/>
        </p:spPr>
        <p:txBody>
          <a:bodyPr wrap="square" lIns="0" rIns="0" tIns="0" bIns="0" anchor="t">
            <a:spAutoFit/>
          </a:bodyPr>
          <a:lstStyle/>
          <a:p>
            <a:pPr algn="r">
              <a:lnSpc>
                <a:spcPct val="115000"/>
              </a:lnSpc>
              <a:spcAft>
                <a:spcPts val="0"/>
              </a:spcAft>
            </a:pPr>
            <a:r>
              <a:rPr sz="1000" b="1">
                <a:solidFill>
                  <a:srgbClr val="6F6A60"/>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02336"/>
            <a:ext cx="822960" cy="3175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548640"/>
            <a:ext cx="11057839" cy="822960"/>
          </a:xfrm>
          <a:prstGeom prst="rect">
            <a:avLst/>
          </a:prstGeom>
          <a:noFill/>
        </p:spPr>
        <p:txBody>
          <a:bodyPr wrap="square" lIns="0" rIns="0" tIns="0" bIns="0" anchor="t">
            <a:spAutoFit/>
          </a:bodyPr>
          <a:lstStyle/>
          <a:p>
            <a:pPr algn="l">
              <a:lnSpc>
                <a:spcPct val="115000"/>
              </a:lnSpc>
              <a:spcAft>
                <a:spcPts val="400"/>
              </a:spcAft>
            </a:pPr>
            <a:r>
              <a:rPr sz="3000" b="1">
                <a:solidFill>
                  <a:srgbClr val="1A1814"/>
                </a:solidFill>
                <a:latin typeface="Segoe UI"/>
              </a:rPr>
              <a:t>Evaluation</a:t>
            </a:r>
          </a:p>
          <a:p>
            <a:pPr algn="l">
              <a:lnSpc>
                <a:spcPct val="115000"/>
              </a:lnSpc>
              <a:spcAft>
                <a:spcPts val="0"/>
              </a:spcAft>
            </a:pPr>
            <a:r>
              <a:rPr sz="1350" b="0">
                <a:solidFill>
                  <a:srgbClr val="5E5950"/>
                </a:solidFill>
                <a:latin typeface="Segoe UI"/>
              </a:rPr>
              <a:t>Detection odds and rental economics were measured.</a:t>
            </a:r>
          </a:p>
        </p:txBody>
      </p:sp>
      <p:pic>
        <p:nvPicPr>
          <p:cNvPr id="5" name="Picture 4" descr="chart-detection.png"/>
          <p:cNvPicPr>
            <a:picLocks noChangeAspect="1"/>
          </p:cNvPicPr>
          <p:nvPr/>
        </p:nvPicPr>
        <p:blipFill>
          <a:blip r:embed="rId2"/>
          <a:stretch>
            <a:fillRect/>
          </a:stretch>
        </p:blipFill>
        <p:spPr>
          <a:xfrm>
            <a:off x="566928" y="1697108"/>
            <a:ext cx="5368899" cy="3006583"/>
          </a:xfrm>
          <a:prstGeom prst="rect">
            <a:avLst/>
          </a:prstGeom>
        </p:spPr>
      </p:pic>
      <p:sp>
        <p:nvSpPr>
          <p:cNvPr id="6" name="Rounded Rectangle 5"/>
          <p:cNvSpPr/>
          <p:nvPr/>
        </p:nvSpPr>
        <p:spPr>
          <a:xfrm>
            <a:off x="566928" y="4983480"/>
            <a:ext cx="5368899" cy="777240"/>
          </a:xfrm>
          <a:prstGeom prst="roundRect">
            <a:avLst>
              <a:gd name="adj" fmla="val 3500"/>
            </a:avLst>
          </a:prstGeom>
          <a:solidFill>
            <a:srgbClr val="FDF3E1"/>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95528" y="4983480"/>
            <a:ext cx="4911699" cy="777240"/>
          </a:xfrm>
          <a:prstGeom prst="rect">
            <a:avLst/>
          </a:prstGeom>
          <a:noFill/>
        </p:spPr>
        <p:txBody>
          <a:bodyPr wrap="square" lIns="0" rIns="0" tIns="0" bIns="0" anchor="ctr">
            <a:spAutoFit/>
          </a:bodyPr>
          <a:lstStyle/>
          <a:p>
            <a:pPr algn="l">
              <a:lnSpc>
                <a:spcPct val="115000"/>
              </a:lnSpc>
              <a:spcAft>
                <a:spcPts val="0"/>
              </a:spcAft>
            </a:pPr>
            <a:r>
              <a:rPr sz="1600" b="1">
                <a:solidFill>
                  <a:srgbClr val="1A1814"/>
                </a:solidFill>
                <a:latin typeface="Segoe UI"/>
              </a:rPr>
              <a:t>Spot-check break-even is at s* = 0.5.</a:t>
            </a:r>
          </a:p>
        </p:txBody>
      </p:sp>
      <p:pic>
        <p:nvPicPr>
          <p:cNvPr id="8" name="Picture 7" descr="chart-rental-economics.png"/>
          <p:cNvPicPr>
            <a:picLocks noChangeAspect="1"/>
          </p:cNvPicPr>
          <p:nvPr/>
        </p:nvPicPr>
        <p:blipFill>
          <a:blip r:embed="rId3"/>
          <a:stretch>
            <a:fillRect/>
          </a:stretch>
        </p:blipFill>
        <p:spPr>
          <a:xfrm>
            <a:off x="6255867" y="1784963"/>
            <a:ext cx="5368899" cy="2830874"/>
          </a:xfrm>
          <a:prstGeom prst="rect">
            <a:avLst/>
          </a:prstGeom>
        </p:spPr>
      </p:pic>
      <p:sp>
        <p:nvSpPr>
          <p:cNvPr id="9" name="Rounded Rectangle 8"/>
          <p:cNvSpPr/>
          <p:nvPr/>
        </p:nvSpPr>
        <p:spPr>
          <a:xfrm>
            <a:off x="6255867" y="4983480"/>
            <a:ext cx="5368899" cy="777240"/>
          </a:xfrm>
          <a:prstGeom prst="roundRect">
            <a:avLst>
              <a:gd name="adj" fmla="val 3500"/>
            </a:avLst>
          </a:prstGeom>
          <a:solidFill>
            <a:srgbClr val="FDF3E1"/>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84467" y="4983480"/>
            <a:ext cx="4911699" cy="777240"/>
          </a:xfrm>
          <a:prstGeom prst="rect">
            <a:avLst/>
          </a:prstGeom>
          <a:noFill/>
        </p:spPr>
        <p:txBody>
          <a:bodyPr wrap="square" lIns="0" rIns="0" tIns="0" bIns="0" anchor="ctr">
            <a:spAutoFit/>
          </a:bodyPr>
          <a:lstStyle/>
          <a:p>
            <a:pPr algn="l">
              <a:lnSpc>
                <a:spcPct val="115000"/>
              </a:lnSpc>
              <a:spcAft>
                <a:spcPts val="0"/>
              </a:spcAft>
            </a:pPr>
            <a:r>
              <a:rPr sz="1600" b="1">
                <a:solidFill>
                  <a:srgbClr val="1A1814"/>
                </a:solidFill>
                <a:latin typeface="Segoe UI"/>
              </a:rPr>
              <a:t>Escrow conservation holds exactly.</a:t>
            </a:r>
          </a:p>
        </p:txBody>
      </p:sp>
      <p:sp>
        <p:nvSpPr>
          <p:cNvPr id="11" name="TextBox 10"/>
          <p:cNvSpPr txBox="1"/>
          <p:nvPr/>
        </p:nvSpPr>
        <p:spPr>
          <a:xfrm>
            <a:off x="566928" y="6382512"/>
            <a:ext cx="10051999" cy="274320"/>
          </a:xfrm>
          <a:prstGeom prst="rect">
            <a:avLst/>
          </a:prstGeom>
          <a:noFill/>
        </p:spPr>
        <p:txBody>
          <a:bodyPr wrap="square" lIns="0" rIns="0" tIns="0" bIns="0" anchor="t">
            <a:spAutoFit/>
          </a:bodyPr>
          <a:lstStyle/>
          <a:p>
            <a:pPr algn="l">
              <a:lnSpc>
                <a:spcPct val="115000"/>
              </a:lnSpc>
              <a:spcAft>
                <a:spcPts val="0"/>
              </a:spcAft>
            </a:pPr>
            <a:r>
              <a:rPr sz="1000" b="0">
                <a:solidFill>
                  <a:srgbClr val="6F6A60"/>
                </a:solidFill>
                <a:latin typeface="Segoe UI"/>
              </a:rPr>
              <a:t>ShaderMesh</a:t>
            </a:r>
          </a:p>
        </p:txBody>
      </p:sp>
      <p:sp>
        <p:nvSpPr>
          <p:cNvPr id="12" name="TextBox 11"/>
          <p:cNvSpPr txBox="1"/>
          <p:nvPr/>
        </p:nvSpPr>
        <p:spPr>
          <a:xfrm>
            <a:off x="10801807" y="6382512"/>
            <a:ext cx="822960" cy="274320"/>
          </a:xfrm>
          <a:prstGeom prst="rect">
            <a:avLst/>
          </a:prstGeom>
          <a:noFill/>
        </p:spPr>
        <p:txBody>
          <a:bodyPr wrap="square" lIns="0" rIns="0" tIns="0" bIns="0" anchor="t">
            <a:spAutoFit/>
          </a:bodyPr>
          <a:lstStyle/>
          <a:p>
            <a:pPr algn="r">
              <a:lnSpc>
                <a:spcPct val="115000"/>
              </a:lnSpc>
              <a:spcAft>
                <a:spcPts val="0"/>
              </a:spcAft>
            </a:pPr>
            <a:r>
              <a:rPr sz="1000" b="1">
                <a:solidFill>
                  <a:srgbClr val="6F6A60"/>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02336"/>
            <a:ext cx="822960" cy="3175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548640"/>
            <a:ext cx="11057839" cy="822960"/>
          </a:xfrm>
          <a:prstGeom prst="rect">
            <a:avLst/>
          </a:prstGeom>
          <a:noFill/>
        </p:spPr>
        <p:txBody>
          <a:bodyPr wrap="square" lIns="0" rIns="0" tIns="0" bIns="0" anchor="t">
            <a:spAutoFit/>
          </a:bodyPr>
          <a:lstStyle/>
          <a:p>
            <a:pPr algn="l">
              <a:lnSpc>
                <a:spcPct val="115000"/>
              </a:lnSpc>
              <a:spcAft>
                <a:spcPts val="400"/>
              </a:spcAft>
            </a:pPr>
            <a:r>
              <a:rPr sz="3000" b="1">
                <a:solidFill>
                  <a:srgbClr val="1A1814"/>
                </a:solidFill>
                <a:latin typeface="Segoe UI"/>
              </a:rPr>
              <a:t>Live on Sepolia</a:t>
            </a:r>
          </a:p>
          <a:p>
            <a:pPr algn="l">
              <a:lnSpc>
                <a:spcPct val="115000"/>
              </a:lnSpc>
              <a:spcAft>
                <a:spcPts val="0"/>
              </a:spcAft>
            </a:pPr>
            <a:r>
              <a:rPr sz="1350" b="0">
                <a:solidFill>
                  <a:srgbClr val="5E5950"/>
                </a:solidFill>
                <a:latin typeface="Segoe UI"/>
              </a:rPr>
              <a:t>The full path ran on a public testnet with a real GPU.</a:t>
            </a:r>
          </a:p>
        </p:txBody>
      </p:sp>
      <p:sp>
        <p:nvSpPr>
          <p:cNvPr id="5" name="Rounded Rectangle 4"/>
          <p:cNvSpPr/>
          <p:nvPr/>
        </p:nvSpPr>
        <p:spPr>
          <a:xfrm>
            <a:off x="566928" y="1737360"/>
            <a:ext cx="3503066" cy="1965960"/>
          </a:xfrm>
          <a:prstGeom prst="roundRect">
            <a:avLst>
              <a:gd name="adj" fmla="val 3500"/>
            </a:avLst>
          </a:prstGeom>
          <a:solidFill>
            <a:srgbClr val="FBFAF7"/>
          </a:solidFill>
          <a:ln w="12700">
            <a:solidFill>
              <a:srgbClr val="E6E2D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41248" y="2103120"/>
            <a:ext cx="2954426" cy="1417320"/>
          </a:xfrm>
          <a:prstGeom prst="rect">
            <a:avLst/>
          </a:prstGeom>
          <a:noFill/>
        </p:spPr>
        <p:txBody>
          <a:bodyPr wrap="square" lIns="0" rIns="0" tIns="0" bIns="0" anchor="t">
            <a:spAutoFit/>
          </a:bodyPr>
          <a:lstStyle/>
          <a:p>
            <a:pPr algn="l">
              <a:lnSpc>
                <a:spcPct val="115000"/>
              </a:lnSpc>
              <a:spcAft>
                <a:spcPts val="800"/>
              </a:spcAft>
            </a:pPr>
            <a:r>
              <a:rPr sz="2600" b="1">
                <a:solidFill>
                  <a:srgbClr val="1A1814"/>
                </a:solidFill>
                <a:latin typeface="Consolas"/>
              </a:rPr>
              <a:t>6</a:t>
            </a:r>
          </a:p>
          <a:p>
            <a:pPr algn="l">
              <a:lnSpc>
                <a:spcPct val="115000"/>
              </a:lnSpc>
              <a:spcAft>
                <a:spcPts val="0"/>
              </a:spcAft>
            </a:pPr>
            <a:r>
              <a:rPr sz="1400" b="0">
                <a:solidFill>
                  <a:srgbClr val="5E5950"/>
                </a:solidFill>
                <a:latin typeface="Segoe UI"/>
              </a:rPr>
              <a:t>contracts source-verified</a:t>
            </a:r>
          </a:p>
        </p:txBody>
      </p:sp>
      <p:sp>
        <p:nvSpPr>
          <p:cNvPr id="7" name="Rounded Rectangle 6"/>
          <p:cNvSpPr/>
          <p:nvPr/>
        </p:nvSpPr>
        <p:spPr>
          <a:xfrm>
            <a:off x="4344314" y="1737360"/>
            <a:ext cx="3503066" cy="1965960"/>
          </a:xfrm>
          <a:prstGeom prst="roundRect">
            <a:avLst>
              <a:gd name="adj" fmla="val 3500"/>
            </a:avLst>
          </a:prstGeom>
          <a:solidFill>
            <a:srgbClr val="FBFAF7"/>
          </a:solidFill>
          <a:ln w="12700">
            <a:solidFill>
              <a:srgbClr val="E6E2D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618634" y="2103120"/>
            <a:ext cx="2954426" cy="1417320"/>
          </a:xfrm>
          <a:prstGeom prst="rect">
            <a:avLst/>
          </a:prstGeom>
          <a:noFill/>
        </p:spPr>
        <p:txBody>
          <a:bodyPr wrap="square" lIns="0" rIns="0" tIns="0" bIns="0" anchor="t">
            <a:spAutoFit/>
          </a:bodyPr>
          <a:lstStyle/>
          <a:p>
            <a:pPr algn="l">
              <a:lnSpc>
                <a:spcPct val="115000"/>
              </a:lnSpc>
              <a:spcAft>
                <a:spcPts val="800"/>
              </a:spcAft>
            </a:pPr>
            <a:r>
              <a:rPr sz="2600" b="1">
                <a:solidFill>
                  <a:srgbClr val="1A1814"/>
                </a:solidFill>
                <a:latin typeface="Consolas"/>
              </a:rPr>
              <a:t>RTX 4070 Laptop</a:t>
            </a:r>
          </a:p>
          <a:p>
            <a:pPr algn="l">
              <a:lnSpc>
                <a:spcPct val="115000"/>
              </a:lnSpc>
              <a:spcAft>
                <a:spcPts val="0"/>
              </a:spcAft>
            </a:pPr>
            <a:r>
              <a:rPr sz="1400" b="0">
                <a:solidFill>
                  <a:srgbClr val="5E5950"/>
                </a:solidFill>
                <a:latin typeface="Segoe UI"/>
              </a:rPr>
              <a:t>provider GPU, attested</a:t>
            </a:r>
          </a:p>
        </p:txBody>
      </p:sp>
      <p:sp>
        <p:nvSpPr>
          <p:cNvPr id="9" name="Rounded Rectangle 8"/>
          <p:cNvSpPr/>
          <p:nvPr/>
        </p:nvSpPr>
        <p:spPr>
          <a:xfrm>
            <a:off x="8121700" y="1737360"/>
            <a:ext cx="3503066" cy="1965960"/>
          </a:xfrm>
          <a:prstGeom prst="roundRect">
            <a:avLst>
              <a:gd name="adj" fmla="val 3500"/>
            </a:avLst>
          </a:prstGeom>
          <a:solidFill>
            <a:srgbClr val="FBFAF7"/>
          </a:solidFill>
          <a:ln w="12700">
            <a:solidFill>
              <a:srgbClr val="E6E2D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396020" y="2103120"/>
            <a:ext cx="2954426" cy="1417320"/>
          </a:xfrm>
          <a:prstGeom prst="rect">
            <a:avLst/>
          </a:prstGeom>
          <a:noFill/>
        </p:spPr>
        <p:txBody>
          <a:bodyPr wrap="square" lIns="0" rIns="0" tIns="0" bIns="0" anchor="t">
            <a:spAutoFit/>
          </a:bodyPr>
          <a:lstStyle/>
          <a:p>
            <a:pPr algn="l">
              <a:lnSpc>
                <a:spcPct val="115000"/>
              </a:lnSpc>
              <a:spcAft>
                <a:spcPts val="800"/>
              </a:spcAft>
            </a:pPr>
            <a:r>
              <a:rPr sz="2600" b="1">
                <a:solidFill>
                  <a:srgbClr val="1A1814"/>
                </a:solidFill>
                <a:latin typeface="Consolas"/>
              </a:rPr>
              <a:t>#1</a:t>
            </a:r>
          </a:p>
          <a:p>
            <a:pPr algn="l">
              <a:lnSpc>
                <a:spcPct val="115000"/>
              </a:lnSpc>
              <a:spcAft>
                <a:spcPts val="0"/>
              </a:spcAft>
            </a:pPr>
            <a:r>
              <a:rPr sz="1400" b="0">
                <a:solidFill>
                  <a:srgbClr val="5E5950"/>
                </a:solidFill>
                <a:latin typeface="Segoe UI"/>
              </a:rPr>
              <a:t>listing</a:t>
            </a:r>
          </a:p>
        </p:txBody>
      </p:sp>
      <p:sp>
        <p:nvSpPr>
          <p:cNvPr id="11" name="Rounded Rectangle 10"/>
          <p:cNvSpPr/>
          <p:nvPr/>
        </p:nvSpPr>
        <p:spPr>
          <a:xfrm>
            <a:off x="566928" y="3977640"/>
            <a:ext cx="3503066" cy="1965960"/>
          </a:xfrm>
          <a:prstGeom prst="roundRect">
            <a:avLst>
              <a:gd name="adj" fmla="val 3500"/>
            </a:avLst>
          </a:prstGeom>
          <a:solidFill>
            <a:srgbClr val="FBFAF7"/>
          </a:solidFill>
          <a:ln w="12700">
            <a:solidFill>
              <a:srgbClr val="E6E2D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1248" y="4343400"/>
            <a:ext cx="2954426" cy="1417320"/>
          </a:xfrm>
          <a:prstGeom prst="rect">
            <a:avLst/>
          </a:prstGeom>
          <a:noFill/>
        </p:spPr>
        <p:txBody>
          <a:bodyPr wrap="square" lIns="0" rIns="0" tIns="0" bIns="0" anchor="t">
            <a:spAutoFit/>
          </a:bodyPr>
          <a:lstStyle/>
          <a:p>
            <a:pPr algn="l">
              <a:lnSpc>
                <a:spcPct val="115000"/>
              </a:lnSpc>
              <a:spcAft>
                <a:spcPts val="800"/>
              </a:spcAft>
            </a:pPr>
            <a:r>
              <a:rPr sz="2600" b="1">
                <a:solidFill>
                  <a:srgbClr val="1A1814"/>
                </a:solidFill>
                <a:latin typeface="Consolas"/>
              </a:rPr>
              <a:t>qwen3:0.6b</a:t>
            </a:r>
          </a:p>
          <a:p>
            <a:pPr algn="l">
              <a:lnSpc>
                <a:spcPct val="115000"/>
              </a:lnSpc>
              <a:spcAft>
                <a:spcPts val="0"/>
              </a:spcAft>
            </a:pPr>
            <a:r>
              <a:rPr sz="1400" b="0">
                <a:solidFill>
                  <a:srgbClr val="5E5950"/>
                </a:solidFill>
                <a:latin typeface="Segoe UI"/>
              </a:rPr>
              <a:t>model offer #1</a:t>
            </a:r>
          </a:p>
        </p:txBody>
      </p:sp>
      <p:sp>
        <p:nvSpPr>
          <p:cNvPr id="13" name="Rounded Rectangle 12"/>
          <p:cNvSpPr/>
          <p:nvPr/>
        </p:nvSpPr>
        <p:spPr>
          <a:xfrm>
            <a:off x="4344314" y="3977640"/>
            <a:ext cx="3503066" cy="1965960"/>
          </a:xfrm>
          <a:prstGeom prst="roundRect">
            <a:avLst>
              <a:gd name="adj" fmla="val 3500"/>
            </a:avLst>
          </a:prstGeom>
          <a:solidFill>
            <a:srgbClr val="E8F4EC"/>
          </a:solidFill>
          <a:ln w="19050">
            <a:solidFill>
              <a:srgbClr val="137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618634" y="4343400"/>
            <a:ext cx="2954426" cy="1417320"/>
          </a:xfrm>
          <a:prstGeom prst="rect">
            <a:avLst/>
          </a:prstGeom>
          <a:noFill/>
        </p:spPr>
        <p:txBody>
          <a:bodyPr wrap="square" lIns="0" rIns="0" tIns="0" bIns="0" anchor="t">
            <a:spAutoFit/>
          </a:bodyPr>
          <a:lstStyle/>
          <a:p>
            <a:pPr algn="l">
              <a:lnSpc>
                <a:spcPct val="115000"/>
              </a:lnSpc>
              <a:spcAft>
                <a:spcPts val="800"/>
              </a:spcAft>
            </a:pPr>
            <a:r>
              <a:rPr sz="2600" b="1">
                <a:solidFill>
                  <a:srgbClr val="137535"/>
                </a:solidFill>
                <a:latin typeface="Consolas"/>
              </a:rPr>
              <a:t>28,919</a:t>
            </a:r>
          </a:p>
          <a:p>
            <a:pPr algn="l">
              <a:lnSpc>
                <a:spcPct val="115000"/>
              </a:lnSpc>
              <a:spcAft>
                <a:spcPts val="0"/>
              </a:spcAft>
            </a:pPr>
            <a:r>
              <a:rPr sz="1400" b="0">
                <a:solidFill>
                  <a:srgbClr val="5E5950"/>
                </a:solidFill>
                <a:latin typeface="Segoe UI"/>
              </a:rPr>
              <a:t>challenge #1 passed, about 289 tokens per second</a:t>
            </a:r>
          </a:p>
        </p:txBody>
      </p:sp>
      <p:sp>
        <p:nvSpPr>
          <p:cNvPr id="15" name="Rounded Rectangle 14"/>
          <p:cNvSpPr/>
          <p:nvPr/>
        </p:nvSpPr>
        <p:spPr>
          <a:xfrm>
            <a:off x="8121700" y="3977640"/>
            <a:ext cx="3503066" cy="1965960"/>
          </a:xfrm>
          <a:prstGeom prst="roundRect">
            <a:avLst>
              <a:gd name="adj" fmla="val 3500"/>
            </a:avLst>
          </a:prstGeom>
          <a:solidFill>
            <a:srgbClr val="E8F4EC"/>
          </a:solidFill>
          <a:ln w="19050">
            <a:solidFill>
              <a:srgbClr val="137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396020" y="4343400"/>
            <a:ext cx="2954426" cy="1417320"/>
          </a:xfrm>
          <a:prstGeom prst="rect">
            <a:avLst/>
          </a:prstGeom>
          <a:noFill/>
        </p:spPr>
        <p:txBody>
          <a:bodyPr wrap="square" lIns="0" rIns="0" tIns="0" bIns="0" anchor="t">
            <a:spAutoFit/>
          </a:bodyPr>
          <a:lstStyle/>
          <a:p>
            <a:pPr algn="l">
              <a:lnSpc>
                <a:spcPct val="115000"/>
              </a:lnSpc>
              <a:spcAft>
                <a:spcPts val="800"/>
              </a:spcAft>
            </a:pPr>
            <a:r>
              <a:rPr sz="2600" b="1">
                <a:solidFill>
                  <a:srgbClr val="137535"/>
                </a:solidFill>
                <a:latin typeface="Consolas"/>
              </a:rPr>
              <a:t>108 s</a:t>
            </a:r>
          </a:p>
          <a:p>
            <a:pPr algn="l">
              <a:lnSpc>
                <a:spcPct val="115000"/>
              </a:lnSpc>
              <a:spcAft>
                <a:spcPts val="0"/>
              </a:spcAft>
            </a:pPr>
            <a:r>
              <a:rPr sz="1400" b="0">
                <a:solidFill>
                  <a:srgbClr val="5E5950"/>
                </a:solidFill>
                <a:latin typeface="Segoe UI"/>
              </a:rPr>
              <a:t>time to answer</a:t>
            </a:r>
          </a:p>
        </p:txBody>
      </p:sp>
      <p:sp>
        <p:nvSpPr>
          <p:cNvPr id="17" name="TextBox 16"/>
          <p:cNvSpPr txBox="1"/>
          <p:nvPr/>
        </p:nvSpPr>
        <p:spPr>
          <a:xfrm>
            <a:off x="566928" y="6382512"/>
            <a:ext cx="10051999" cy="274320"/>
          </a:xfrm>
          <a:prstGeom prst="rect">
            <a:avLst/>
          </a:prstGeom>
          <a:noFill/>
        </p:spPr>
        <p:txBody>
          <a:bodyPr wrap="square" lIns="0" rIns="0" tIns="0" bIns="0" anchor="t">
            <a:spAutoFit/>
          </a:bodyPr>
          <a:lstStyle/>
          <a:p>
            <a:pPr algn="l">
              <a:lnSpc>
                <a:spcPct val="115000"/>
              </a:lnSpc>
              <a:spcAft>
                <a:spcPts val="0"/>
              </a:spcAft>
            </a:pPr>
            <a:r>
              <a:rPr sz="1000" b="0">
                <a:solidFill>
                  <a:srgbClr val="6F6A60"/>
                </a:solidFill>
                <a:latin typeface="Segoe UI"/>
              </a:rPr>
              <a:t>ShaderMesh</a:t>
            </a:r>
          </a:p>
        </p:txBody>
      </p:sp>
      <p:sp>
        <p:nvSpPr>
          <p:cNvPr id="18" name="TextBox 17"/>
          <p:cNvSpPr txBox="1"/>
          <p:nvPr/>
        </p:nvSpPr>
        <p:spPr>
          <a:xfrm>
            <a:off x="10801807" y="6382512"/>
            <a:ext cx="822960" cy="274320"/>
          </a:xfrm>
          <a:prstGeom prst="rect">
            <a:avLst/>
          </a:prstGeom>
          <a:noFill/>
        </p:spPr>
        <p:txBody>
          <a:bodyPr wrap="square" lIns="0" rIns="0" tIns="0" bIns="0" anchor="t">
            <a:spAutoFit/>
          </a:bodyPr>
          <a:lstStyle/>
          <a:p>
            <a:pPr algn="r">
              <a:lnSpc>
                <a:spcPct val="115000"/>
              </a:lnSpc>
              <a:spcAft>
                <a:spcPts val="0"/>
              </a:spcAft>
            </a:pPr>
            <a:r>
              <a:rPr sz="1000" b="1">
                <a:solidFill>
                  <a:srgbClr val="6F6A60"/>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02336"/>
            <a:ext cx="822960" cy="3175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548640"/>
            <a:ext cx="11057839" cy="822960"/>
          </a:xfrm>
          <a:prstGeom prst="rect">
            <a:avLst/>
          </a:prstGeom>
          <a:noFill/>
        </p:spPr>
        <p:txBody>
          <a:bodyPr wrap="square" lIns="0" rIns="0" tIns="0" bIns="0" anchor="t">
            <a:spAutoFit/>
          </a:bodyPr>
          <a:lstStyle/>
          <a:p>
            <a:pPr algn="l">
              <a:lnSpc>
                <a:spcPct val="115000"/>
              </a:lnSpc>
              <a:spcAft>
                <a:spcPts val="400"/>
              </a:spcAft>
            </a:pPr>
            <a:r>
              <a:rPr sz="3000" b="1">
                <a:solidFill>
                  <a:srgbClr val="1A1814"/>
                </a:solidFill>
                <a:latin typeface="Segoe UI"/>
              </a:rPr>
              <a:t>Limitations and future work</a:t>
            </a:r>
          </a:p>
          <a:p>
            <a:pPr algn="l">
              <a:lnSpc>
                <a:spcPct val="115000"/>
              </a:lnSpc>
              <a:spcAft>
                <a:spcPts val="0"/>
              </a:spcAft>
            </a:pPr>
            <a:r>
              <a:rPr sz="1350" b="0">
                <a:solidFill>
                  <a:srgbClr val="5E5950"/>
                </a:solidFill>
                <a:latin typeface="Segoe UI"/>
              </a:rPr>
              <a:t>The remaining trust assumptions are stated, not hidden.</a:t>
            </a:r>
          </a:p>
        </p:txBody>
      </p:sp>
      <p:sp>
        <p:nvSpPr>
          <p:cNvPr id="5" name="Rounded Rectangle 4"/>
          <p:cNvSpPr/>
          <p:nvPr/>
        </p:nvSpPr>
        <p:spPr>
          <a:xfrm>
            <a:off x="566928" y="1645920"/>
            <a:ext cx="5346039" cy="3931920"/>
          </a:xfrm>
          <a:prstGeom prst="roundRect">
            <a:avLst>
              <a:gd name="adj" fmla="val 3500"/>
            </a:avLst>
          </a:prstGeom>
          <a:solidFill>
            <a:srgbClr val="F3F1EC"/>
          </a:solidFill>
          <a:ln w="12700">
            <a:solidFill>
              <a:srgbClr val="E6E2D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1920240"/>
            <a:ext cx="4687671" cy="3474720"/>
          </a:xfrm>
          <a:prstGeom prst="rect">
            <a:avLst/>
          </a:prstGeom>
          <a:noFill/>
        </p:spPr>
        <p:txBody>
          <a:bodyPr wrap="square" lIns="0" rIns="0" tIns="0" bIns="0" anchor="t">
            <a:spAutoFit/>
          </a:bodyPr>
          <a:lstStyle/>
          <a:p>
            <a:pPr algn="l">
              <a:lnSpc>
                <a:spcPct val="115000"/>
              </a:lnSpc>
              <a:spcAft>
                <a:spcPts val="1600"/>
              </a:spcAft>
            </a:pPr>
            <a:r>
              <a:rPr sz="2000" b="1">
                <a:solidFill>
                  <a:srgbClr val="1A1814"/>
                </a:solidFill>
                <a:latin typeface="Segoe UI"/>
              </a:rPr>
              <a:t>Limitations</a:t>
            </a:r>
          </a:p>
          <a:p>
            <a:pPr algn="l">
              <a:lnSpc>
                <a:spcPct val="115000"/>
              </a:lnSpc>
              <a:spcAft>
                <a:spcPts val="1600"/>
              </a:spcAft>
            </a:pPr>
            <a:r>
              <a:rPr sz="1900" b="0">
                <a:solidFill>
                  <a:srgbClr val="3A362F"/>
                </a:solidFill>
                <a:latin typeface="Segoe UI"/>
              </a:rPr>
              <a:t>The attester is still trusted to judge challenges.</a:t>
            </a:r>
          </a:p>
          <a:p>
            <a:pPr algn="l">
              <a:lnSpc>
                <a:spcPct val="115000"/>
              </a:lnSpc>
              <a:spcAft>
                <a:spcPts val="1600"/>
              </a:spcAft>
            </a:pPr>
            <a:r>
              <a:rPr sz="1900" b="0">
                <a:solidFill>
                  <a:srgbClr val="3A362F"/>
                </a:solidFill>
                <a:latin typeface="Segoe UI"/>
              </a:rPr>
              <a:t>Providers submit their own heartbeats and pay the gas.</a:t>
            </a:r>
          </a:p>
          <a:p>
            <a:pPr algn="l">
              <a:lnSpc>
                <a:spcPct val="115000"/>
              </a:lnSpc>
              <a:spcAft>
                <a:spcPts val="1600"/>
              </a:spcAft>
            </a:pPr>
            <a:r>
              <a:rPr sz="1900" b="0">
                <a:solidFill>
                  <a:srgbClr val="3A362F"/>
                </a:solidFill>
                <a:latin typeface="Segoe UI"/>
              </a:rPr>
              <a:t>One provider tested on a public network.</a:t>
            </a:r>
          </a:p>
          <a:p>
            <a:pPr algn="l">
              <a:lnSpc>
                <a:spcPct val="115000"/>
              </a:lnSpc>
              <a:spcAft>
                <a:spcPts val="1600"/>
              </a:spcAft>
            </a:pPr>
            <a:r>
              <a:rPr sz="1900" b="0">
                <a:solidFill>
                  <a:srgbClr val="3A362F"/>
                </a:solidFill>
                <a:latin typeface="Segoe UI"/>
              </a:rPr>
              <a:t>No automatic check of rendering output.</a:t>
            </a:r>
          </a:p>
        </p:txBody>
      </p:sp>
      <p:sp>
        <p:nvSpPr>
          <p:cNvPr id="7" name="Rounded Rectangle 6"/>
          <p:cNvSpPr/>
          <p:nvPr/>
        </p:nvSpPr>
        <p:spPr>
          <a:xfrm>
            <a:off x="6278727" y="1645920"/>
            <a:ext cx="5346039" cy="3931920"/>
          </a:xfrm>
          <a:prstGeom prst="roundRect">
            <a:avLst>
              <a:gd name="adj" fmla="val 3500"/>
            </a:avLst>
          </a:prstGeom>
          <a:solidFill>
            <a:srgbClr val="FDF3E1"/>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607911" y="1920240"/>
            <a:ext cx="4687671" cy="3474720"/>
          </a:xfrm>
          <a:prstGeom prst="rect">
            <a:avLst/>
          </a:prstGeom>
          <a:noFill/>
        </p:spPr>
        <p:txBody>
          <a:bodyPr wrap="square" lIns="0" rIns="0" tIns="0" bIns="0" anchor="t">
            <a:spAutoFit/>
          </a:bodyPr>
          <a:lstStyle/>
          <a:p>
            <a:pPr algn="l">
              <a:lnSpc>
                <a:spcPct val="115000"/>
              </a:lnSpc>
              <a:spcAft>
                <a:spcPts val="1600"/>
              </a:spcAft>
            </a:pPr>
            <a:r>
              <a:rPr sz="2000" b="1">
                <a:solidFill>
                  <a:srgbClr val="A34A06"/>
                </a:solidFill>
                <a:latin typeface="Segoe UI"/>
              </a:rPr>
              <a:t>Future work</a:t>
            </a:r>
          </a:p>
          <a:p>
            <a:pPr algn="l">
              <a:lnSpc>
                <a:spcPct val="115000"/>
              </a:lnSpc>
              <a:spcAft>
                <a:spcPts val="1600"/>
              </a:spcAft>
            </a:pPr>
            <a:r>
              <a:rPr sz="1900" b="0">
                <a:solidFill>
                  <a:srgbClr val="3A362F"/>
                </a:solidFill>
                <a:latin typeface="Segoe UI"/>
              </a:rPr>
              <a:t>Decentralized judging.</a:t>
            </a:r>
          </a:p>
          <a:p>
            <a:pPr algn="l">
              <a:lnSpc>
                <a:spcPct val="115000"/>
              </a:lnSpc>
              <a:spcAft>
                <a:spcPts val="1600"/>
              </a:spcAft>
            </a:pPr>
            <a:r>
              <a:rPr sz="1900" b="0">
                <a:solidFill>
                  <a:srgbClr val="3A362F"/>
                </a:solidFill>
                <a:latin typeface="Segoe UI"/>
              </a:rPr>
              <a:t>Relayed heartbeats.</a:t>
            </a:r>
          </a:p>
          <a:p>
            <a:pPr algn="l">
              <a:lnSpc>
                <a:spcPct val="115000"/>
              </a:lnSpc>
              <a:spcAft>
                <a:spcPts val="1600"/>
              </a:spcAft>
            </a:pPr>
            <a:r>
              <a:rPr sz="1900" b="0">
                <a:solidFill>
                  <a:srgbClr val="3A362F"/>
                </a:solidFill>
                <a:latin typeface="Segoe UI"/>
              </a:rPr>
              <a:t>More providers and an L2 deployment.</a:t>
            </a:r>
          </a:p>
          <a:p>
            <a:pPr algn="l">
              <a:lnSpc>
                <a:spcPct val="115000"/>
              </a:lnSpc>
              <a:spcAft>
                <a:spcPts val="1600"/>
              </a:spcAft>
            </a:pPr>
            <a:r>
              <a:rPr sz="1900" b="0">
                <a:solidFill>
                  <a:srgbClr val="3A362F"/>
                </a:solidFill>
                <a:latin typeface="Segoe UI"/>
              </a:rPr>
              <a:t>Perceptual verification for rendering.</a:t>
            </a:r>
          </a:p>
        </p:txBody>
      </p:sp>
      <p:sp>
        <p:nvSpPr>
          <p:cNvPr id="9" name="TextBox 8"/>
          <p:cNvSpPr txBox="1"/>
          <p:nvPr/>
        </p:nvSpPr>
        <p:spPr>
          <a:xfrm>
            <a:off x="566928" y="6382512"/>
            <a:ext cx="10051999" cy="274320"/>
          </a:xfrm>
          <a:prstGeom prst="rect">
            <a:avLst/>
          </a:prstGeom>
          <a:noFill/>
        </p:spPr>
        <p:txBody>
          <a:bodyPr wrap="square" lIns="0" rIns="0" tIns="0" bIns="0" anchor="t">
            <a:spAutoFit/>
          </a:bodyPr>
          <a:lstStyle/>
          <a:p>
            <a:pPr algn="l">
              <a:lnSpc>
                <a:spcPct val="115000"/>
              </a:lnSpc>
              <a:spcAft>
                <a:spcPts val="0"/>
              </a:spcAft>
            </a:pPr>
            <a:r>
              <a:rPr sz="1000" b="0">
                <a:solidFill>
                  <a:srgbClr val="6F6A60"/>
                </a:solidFill>
                <a:latin typeface="Segoe UI"/>
              </a:rPr>
              <a:t>ShaderMesh</a:t>
            </a:r>
          </a:p>
        </p:txBody>
      </p:sp>
      <p:sp>
        <p:nvSpPr>
          <p:cNvPr id="10" name="TextBox 9"/>
          <p:cNvSpPr txBox="1"/>
          <p:nvPr/>
        </p:nvSpPr>
        <p:spPr>
          <a:xfrm>
            <a:off x="10801807" y="6382512"/>
            <a:ext cx="822960" cy="274320"/>
          </a:xfrm>
          <a:prstGeom prst="rect">
            <a:avLst/>
          </a:prstGeom>
          <a:noFill/>
        </p:spPr>
        <p:txBody>
          <a:bodyPr wrap="square" lIns="0" rIns="0" tIns="0" bIns="0" anchor="t">
            <a:spAutoFit/>
          </a:bodyPr>
          <a:lstStyle/>
          <a:p>
            <a:pPr algn="r">
              <a:lnSpc>
                <a:spcPct val="115000"/>
              </a:lnSpc>
              <a:spcAft>
                <a:spcPts val="0"/>
              </a:spcAft>
            </a:pPr>
            <a:r>
              <a:rPr sz="1000" b="1">
                <a:solidFill>
                  <a:srgbClr val="6F6A60"/>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02336"/>
            <a:ext cx="822960" cy="3175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548640"/>
            <a:ext cx="11057839" cy="822960"/>
          </a:xfrm>
          <a:prstGeom prst="rect">
            <a:avLst/>
          </a:prstGeom>
          <a:noFill/>
        </p:spPr>
        <p:txBody>
          <a:bodyPr wrap="square" lIns="0" rIns="0" tIns="0" bIns="0" anchor="t">
            <a:spAutoFit/>
          </a:bodyPr>
          <a:lstStyle/>
          <a:p>
            <a:pPr algn="l">
              <a:lnSpc>
                <a:spcPct val="115000"/>
              </a:lnSpc>
              <a:spcAft>
                <a:spcPts val="400"/>
              </a:spcAft>
            </a:pPr>
            <a:r>
              <a:rPr sz="3000" b="1">
                <a:solidFill>
                  <a:srgbClr val="1A1814"/>
                </a:solidFill>
                <a:latin typeface="Segoe UI"/>
              </a:rPr>
              <a:t>Demo plan</a:t>
            </a:r>
          </a:p>
          <a:p>
            <a:pPr algn="l">
              <a:lnSpc>
                <a:spcPct val="115000"/>
              </a:lnSpc>
              <a:spcAft>
                <a:spcPts val="0"/>
              </a:spcAft>
            </a:pPr>
            <a:r>
              <a:rPr sz="1350" b="0">
                <a:solidFill>
                  <a:srgbClr val="5E5950"/>
                </a:solidFill>
                <a:latin typeface="Segoe UI"/>
              </a:rPr>
              <a:t>Shown live, in this order.</a:t>
            </a:r>
          </a:p>
        </p:txBody>
      </p:sp>
      <p:sp>
        <p:nvSpPr>
          <p:cNvPr id="5" name="Rounded Rectangle 4"/>
          <p:cNvSpPr/>
          <p:nvPr/>
        </p:nvSpPr>
        <p:spPr>
          <a:xfrm>
            <a:off x="566928" y="1645920"/>
            <a:ext cx="6949440" cy="3657600"/>
          </a:xfrm>
          <a:prstGeom prst="roundRect">
            <a:avLst>
              <a:gd name="adj" fmla="val 3500"/>
            </a:avLst>
          </a:prstGeom>
          <a:solidFill>
            <a:srgbClr val="FFFFFF"/>
          </a:solidFill>
          <a:ln w="12700">
            <a:solidFill>
              <a:srgbClr val="E6E2D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32688" y="2057400"/>
            <a:ext cx="365760" cy="36576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A1814"/>
                </a:solidFill>
                <a:latin typeface="Segoe UI"/>
              </a:rPr>
              <a:t>1</a:t>
            </a:r>
          </a:p>
        </p:txBody>
      </p:sp>
      <p:sp>
        <p:nvSpPr>
          <p:cNvPr id="7" name="TextBox 6"/>
          <p:cNvSpPr txBox="1"/>
          <p:nvPr/>
        </p:nvSpPr>
        <p:spPr>
          <a:xfrm>
            <a:off x="1527048" y="2093976"/>
            <a:ext cx="5669280" cy="457200"/>
          </a:xfrm>
          <a:prstGeom prst="rect">
            <a:avLst/>
          </a:prstGeom>
          <a:noFill/>
        </p:spPr>
        <p:txBody>
          <a:bodyPr wrap="square" lIns="0" rIns="0" tIns="0" bIns="0" anchor="t">
            <a:spAutoFit/>
          </a:bodyPr>
          <a:lstStyle/>
          <a:p>
            <a:pPr algn="l">
              <a:lnSpc>
                <a:spcPct val="115000"/>
              </a:lnSpc>
              <a:spcAft>
                <a:spcPts val="0"/>
              </a:spcAft>
            </a:pPr>
            <a:r>
              <a:rPr sz="1800" b="0">
                <a:solidFill>
                  <a:srgbClr val="3A362F"/>
                </a:solidFill>
                <a:latin typeface="Segoe UI"/>
              </a:rPr>
              <a:t>Open the explorer and a lease</a:t>
            </a:r>
          </a:p>
        </p:txBody>
      </p:sp>
      <p:sp>
        <p:nvSpPr>
          <p:cNvPr id="8" name="Oval 7"/>
          <p:cNvSpPr/>
          <p:nvPr/>
        </p:nvSpPr>
        <p:spPr>
          <a:xfrm>
            <a:off x="932688" y="2834640"/>
            <a:ext cx="365760" cy="36576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A1814"/>
                </a:solidFill>
                <a:latin typeface="Segoe UI"/>
              </a:rPr>
              <a:t>2</a:t>
            </a:r>
          </a:p>
        </p:txBody>
      </p:sp>
      <p:sp>
        <p:nvSpPr>
          <p:cNvPr id="9" name="TextBox 8"/>
          <p:cNvSpPr txBox="1"/>
          <p:nvPr/>
        </p:nvSpPr>
        <p:spPr>
          <a:xfrm>
            <a:off x="1527048" y="2871216"/>
            <a:ext cx="5669280" cy="457200"/>
          </a:xfrm>
          <a:prstGeom prst="rect">
            <a:avLst/>
          </a:prstGeom>
          <a:noFill/>
        </p:spPr>
        <p:txBody>
          <a:bodyPr wrap="square" lIns="0" rIns="0" tIns="0" bIns="0" anchor="t">
            <a:spAutoFit/>
          </a:bodyPr>
          <a:lstStyle/>
          <a:p>
            <a:pPr algn="l">
              <a:lnSpc>
                <a:spcPct val="115000"/>
              </a:lnSpc>
              <a:spcAft>
                <a:spcPts val="0"/>
              </a:spcAft>
            </a:pPr>
            <a:r>
              <a:rPr sz="1800" b="0">
                <a:solidFill>
                  <a:srgbClr val="3A362F"/>
                </a:solidFill>
                <a:latin typeface="Segoe UI"/>
              </a:rPr>
              <a:t>Rent a model offer and ask a question</a:t>
            </a:r>
          </a:p>
        </p:txBody>
      </p:sp>
      <p:sp>
        <p:nvSpPr>
          <p:cNvPr id="10" name="Oval 9"/>
          <p:cNvSpPr/>
          <p:nvPr/>
        </p:nvSpPr>
        <p:spPr>
          <a:xfrm>
            <a:off x="932688" y="3611880"/>
            <a:ext cx="365760" cy="36576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A1814"/>
                </a:solidFill>
                <a:latin typeface="Segoe UI"/>
              </a:rPr>
              <a:t>3</a:t>
            </a:r>
          </a:p>
        </p:txBody>
      </p:sp>
      <p:sp>
        <p:nvSpPr>
          <p:cNvPr id="11" name="TextBox 10"/>
          <p:cNvSpPr txBox="1"/>
          <p:nvPr/>
        </p:nvSpPr>
        <p:spPr>
          <a:xfrm>
            <a:off x="1527048" y="3648456"/>
            <a:ext cx="5669280" cy="457200"/>
          </a:xfrm>
          <a:prstGeom prst="rect">
            <a:avLst/>
          </a:prstGeom>
          <a:noFill/>
        </p:spPr>
        <p:txBody>
          <a:bodyPr wrap="square" lIns="0" rIns="0" tIns="0" bIns="0" anchor="t">
            <a:spAutoFit/>
          </a:bodyPr>
          <a:lstStyle/>
          <a:p>
            <a:pPr algn="l">
              <a:lnSpc>
                <a:spcPct val="115000"/>
              </a:lnSpc>
              <a:spcAft>
                <a:spcPts val="0"/>
              </a:spcAft>
            </a:pPr>
            <a:r>
              <a:rPr sz="1800" b="0">
                <a:solidFill>
                  <a:srgbClr val="3A362F"/>
                </a:solidFill>
                <a:latin typeface="Segoe UI"/>
              </a:rPr>
              <a:t>Run a benchmark challenge and watch it settle</a:t>
            </a:r>
          </a:p>
        </p:txBody>
      </p:sp>
      <p:sp>
        <p:nvSpPr>
          <p:cNvPr id="12" name="Oval 11"/>
          <p:cNvSpPr/>
          <p:nvPr/>
        </p:nvSpPr>
        <p:spPr>
          <a:xfrm>
            <a:off x="932688" y="4389120"/>
            <a:ext cx="365760" cy="36576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A1814"/>
                </a:solidFill>
                <a:latin typeface="Segoe UI"/>
              </a:rPr>
              <a:t>4</a:t>
            </a:r>
          </a:p>
        </p:txBody>
      </p:sp>
      <p:sp>
        <p:nvSpPr>
          <p:cNvPr id="13" name="TextBox 12"/>
          <p:cNvSpPr txBox="1"/>
          <p:nvPr/>
        </p:nvSpPr>
        <p:spPr>
          <a:xfrm>
            <a:off x="1527048" y="4425696"/>
            <a:ext cx="5669280" cy="457200"/>
          </a:xfrm>
          <a:prstGeom prst="rect">
            <a:avLst/>
          </a:prstGeom>
          <a:noFill/>
        </p:spPr>
        <p:txBody>
          <a:bodyPr wrap="square" lIns="0" rIns="0" tIns="0" bIns="0" anchor="t">
            <a:spAutoFit/>
          </a:bodyPr>
          <a:lstStyle/>
          <a:p>
            <a:pPr algn="l">
              <a:lnSpc>
                <a:spcPct val="115000"/>
              </a:lnSpc>
              <a:spcAft>
                <a:spcPts val="0"/>
              </a:spcAft>
            </a:pPr>
            <a:r>
              <a:rPr sz="1800" b="0">
                <a:solidFill>
                  <a:srgbClr val="3A362F"/>
                </a:solidFill>
                <a:latin typeface="Segoe UI"/>
              </a:rPr>
              <a:t>Show the slash path on the local stack</a:t>
            </a:r>
          </a:p>
        </p:txBody>
      </p:sp>
      <p:sp>
        <p:nvSpPr>
          <p:cNvPr id="14" name="Rounded Rectangle 13"/>
          <p:cNvSpPr/>
          <p:nvPr/>
        </p:nvSpPr>
        <p:spPr>
          <a:xfrm>
            <a:off x="7790688" y="1645920"/>
            <a:ext cx="3834079" cy="3657600"/>
          </a:xfrm>
          <a:prstGeom prst="roundRect">
            <a:avLst>
              <a:gd name="adj" fmla="val 3500"/>
            </a:avLst>
          </a:prstGeom>
          <a:solidFill>
            <a:srgbClr val="FDF3E1"/>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028432" y="1865376"/>
            <a:ext cx="3358591" cy="3291840"/>
          </a:xfrm>
          <a:prstGeom prst="rect">
            <a:avLst/>
          </a:prstGeom>
          <a:noFill/>
        </p:spPr>
        <p:txBody>
          <a:bodyPr wrap="square" lIns="0" rIns="0" tIns="0" bIns="0" anchor="t">
            <a:spAutoFit/>
          </a:bodyPr>
          <a:lstStyle/>
          <a:p>
            <a:pPr algn="l">
              <a:lnSpc>
                <a:spcPct val="115000"/>
              </a:lnSpc>
              <a:spcAft>
                <a:spcPts val="300"/>
              </a:spcAft>
            </a:pPr>
            <a:r>
              <a:rPr sz="1700" b="1">
                <a:solidFill>
                  <a:srgbClr val="1A1814"/>
                </a:solidFill>
                <a:latin typeface="Segoe UI"/>
              </a:rPr>
              <a:t>Fallback</a:t>
            </a:r>
          </a:p>
          <a:p>
            <a:pPr algn="l">
              <a:lnSpc>
                <a:spcPct val="115000"/>
              </a:lnSpc>
              <a:spcAft>
                <a:spcPts val="1400"/>
              </a:spcAft>
            </a:pPr>
            <a:r>
              <a:rPr sz="1500" b="0">
                <a:solidFill>
                  <a:srgbClr val="5E5950"/>
                </a:solidFill>
                <a:latin typeface="Segoe UI"/>
              </a:rPr>
              <a:t>If the network or GPU is unavailable, the same flow runs on the local stack.</a:t>
            </a:r>
          </a:p>
        </p:txBody>
      </p:sp>
      <p:sp>
        <p:nvSpPr>
          <p:cNvPr id="16" name="TextBox 15"/>
          <p:cNvSpPr txBox="1"/>
          <p:nvPr/>
        </p:nvSpPr>
        <p:spPr>
          <a:xfrm>
            <a:off x="566928" y="6382512"/>
            <a:ext cx="10051999" cy="274320"/>
          </a:xfrm>
          <a:prstGeom prst="rect">
            <a:avLst/>
          </a:prstGeom>
          <a:noFill/>
        </p:spPr>
        <p:txBody>
          <a:bodyPr wrap="square" lIns="0" rIns="0" tIns="0" bIns="0" anchor="t">
            <a:spAutoFit/>
          </a:bodyPr>
          <a:lstStyle/>
          <a:p>
            <a:pPr algn="l">
              <a:lnSpc>
                <a:spcPct val="115000"/>
              </a:lnSpc>
              <a:spcAft>
                <a:spcPts val="0"/>
              </a:spcAft>
            </a:pPr>
            <a:r>
              <a:rPr sz="1000" b="0">
                <a:solidFill>
                  <a:srgbClr val="6F6A60"/>
                </a:solidFill>
                <a:latin typeface="Segoe UI"/>
              </a:rPr>
              <a:t>ShaderMesh</a:t>
            </a:r>
          </a:p>
        </p:txBody>
      </p:sp>
      <p:sp>
        <p:nvSpPr>
          <p:cNvPr id="17" name="TextBox 16"/>
          <p:cNvSpPr txBox="1"/>
          <p:nvPr/>
        </p:nvSpPr>
        <p:spPr>
          <a:xfrm>
            <a:off x="10801807" y="6382512"/>
            <a:ext cx="822960" cy="274320"/>
          </a:xfrm>
          <a:prstGeom prst="rect">
            <a:avLst/>
          </a:prstGeom>
          <a:noFill/>
        </p:spPr>
        <p:txBody>
          <a:bodyPr wrap="square" lIns="0" rIns="0" tIns="0" bIns="0" anchor="t">
            <a:spAutoFit/>
          </a:bodyPr>
          <a:lstStyle/>
          <a:p>
            <a:pPr algn="r">
              <a:lnSpc>
                <a:spcPct val="115000"/>
              </a:lnSpc>
              <a:spcAft>
                <a:spcPts val="0"/>
              </a:spcAft>
            </a:pPr>
            <a:r>
              <a:rPr sz="1000" b="1">
                <a:solidFill>
                  <a:srgbClr val="6F6A60"/>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2377440"/>
            <a:ext cx="822960" cy="3175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606040"/>
            <a:ext cx="9144000" cy="1097280"/>
          </a:xfrm>
          <a:prstGeom prst="rect">
            <a:avLst/>
          </a:prstGeom>
          <a:noFill/>
        </p:spPr>
        <p:txBody>
          <a:bodyPr wrap="square" lIns="0" rIns="0" tIns="0" bIns="0" anchor="t">
            <a:spAutoFit/>
          </a:bodyPr>
          <a:lstStyle/>
          <a:p>
            <a:pPr algn="l">
              <a:lnSpc>
                <a:spcPct val="115000"/>
              </a:lnSpc>
              <a:spcAft>
                <a:spcPts val="0"/>
              </a:spcAft>
            </a:pPr>
            <a:r>
              <a:rPr sz="5400" b="1">
                <a:solidFill>
                  <a:srgbClr val="1A1814"/>
                </a:solidFill>
                <a:latin typeface="Segoe UI"/>
              </a:rPr>
              <a:t>Thank you</a:t>
            </a:r>
          </a:p>
        </p:txBody>
      </p:sp>
      <p:sp>
        <p:nvSpPr>
          <p:cNvPr id="5" name="TextBox 4"/>
          <p:cNvSpPr txBox="1"/>
          <p:nvPr/>
        </p:nvSpPr>
        <p:spPr>
          <a:xfrm>
            <a:off x="566928" y="3749039"/>
            <a:ext cx="9144000" cy="548640"/>
          </a:xfrm>
          <a:prstGeom prst="rect">
            <a:avLst/>
          </a:prstGeom>
          <a:noFill/>
        </p:spPr>
        <p:txBody>
          <a:bodyPr wrap="square" lIns="0" rIns="0" tIns="0" bIns="0" anchor="t">
            <a:spAutoFit/>
          </a:bodyPr>
          <a:lstStyle/>
          <a:p>
            <a:pPr algn="l">
              <a:lnSpc>
                <a:spcPct val="115000"/>
              </a:lnSpc>
              <a:spcAft>
                <a:spcPts val="0"/>
              </a:spcAft>
            </a:pPr>
            <a:r>
              <a:rPr sz="2200" b="0">
                <a:solidFill>
                  <a:srgbClr val="5E5950"/>
                </a:solidFill>
                <a:latin typeface="Segoe UI"/>
              </a:rPr>
              <a:t>Questions</a:t>
            </a:r>
          </a:p>
        </p:txBody>
      </p:sp>
      <p:sp>
        <p:nvSpPr>
          <p:cNvPr id="6" name="TextBox 5"/>
          <p:cNvSpPr txBox="1"/>
          <p:nvPr/>
        </p:nvSpPr>
        <p:spPr>
          <a:xfrm>
            <a:off x="10801807" y="6382512"/>
            <a:ext cx="822960" cy="274320"/>
          </a:xfrm>
          <a:prstGeom prst="rect">
            <a:avLst/>
          </a:prstGeom>
          <a:noFill/>
        </p:spPr>
        <p:txBody>
          <a:bodyPr wrap="square" lIns="0" rIns="0" tIns="0" bIns="0" anchor="t">
            <a:spAutoFit/>
          </a:bodyPr>
          <a:lstStyle/>
          <a:p>
            <a:pPr algn="r">
              <a:lnSpc>
                <a:spcPct val="115000"/>
              </a:lnSpc>
              <a:spcAft>
                <a:spcPts val="0"/>
              </a:spcAft>
            </a:pPr>
            <a:r>
              <a:rPr sz="1000" b="1">
                <a:solidFill>
                  <a:srgbClr val="6F6A60"/>
                </a:solidFill>
                <a:latin typeface="Segoe UI"/>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